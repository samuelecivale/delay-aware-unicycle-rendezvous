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good afternoon. We're presenting our project on delay-aware rendezvous of nonholonomic multi-robot systems. The central question we address is how much communication delay a distributed rendezvous controller can tolerate before the team loses collective stability, and how the theoretical consensus delay margin manifests itself once the agents are realistic nonholonomic unicycle robots rather than simple integrators. The work is joint between the three of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Rendezvous is the canonical multi-robot problem: a team must agree on a common meeting point using only local, relative measurements. We add two realistic ingredients. First, communication is delayed: sensing and transmission introduce a lag tau between when a neighbour's position is generated and when it's used. Second, the agents are unicycles, not integrators, so they cannot move instantaneously in an arbitrary direction. Our central question is how much delay the controller can tolerate before rendezvous breaks down, and it depends on three interacting ingredients: graph topology, delay, and nonholonomic dynamics. The talk develops the theory for a linear reference model, then tests it against the real nonlinear unicycle simulations.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robot is a unicycle: it can only accelerate along its current heading and steer -- it cannot slide sideways. That's the nonholonomic constraint that will matter later. Communication is an undirected graph with Laplacian L equals D minus A, symmetric positive semi-definite, eigenvalues real and ordered from lambda_1 equals zero up to lambda_max. Two eigenvalues matter: lambda_2, the algebraic connectivity -- positive iff the graph is connected, sets the nominal convergence speed -- and lambda_max, which, as we derive in two slides, sets the theoretical delay margin. Our baseline is this six-node ring: lambda_2 equals 1, lambda_max equals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modelling slide. The delayed consensus law generates, at every instant, a desired Cartesian velocity u_i in R^2. An integrator could apply it directly; a unicycle cannot -- it can only accelerate along its heading t_i. The default controller, the force-projection or 'paper' controller inspired by Listmann, Masalawala and Adamy, treats u_i as a force and projects it onto the heading: v_i is k_v times u_i dot t_i, so only the forward-aligned component produces thrust, while omega_i steers proportionally to the heading error e_theta. The orthogonal component is rejected and handled purely by steering. This projection is a genuine nonlinearity absent from the linear reference model -- the structural reason the critical delay we derive next cannot be an exact theorem for the nonlinear unicycle.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deriving the critical delay we must be precise about which delay model we mean -- the report studies two, and they behave very differently. Full-state delays everything, including the agent's own position: p dot equals minus k L p at t minus tau. Neighbour-only is more realistic: each robot knows its own current position instantly, so only communicated neighbour positions are delayed -- stacked form, p dot equals minus k times D p of t minus A p of t minus tau. The key difference is that undelayed term, minus k D p of t: an instantaneous damping the full-state model lacks, which is what makes neighbour-only far more delay-tolerant later. The critical delay we derive next is the exact threshold for full-state only; for neighbour-only it's a conservative reference, not an exact boundary.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derivation, exact for the linear full-state model. Start from p dot equals minus k L p at t minus tau. Since L is real symmetric it has an orthonormal eigenbasis, so modal coordinates z equals V transpose p decouple the system into N scalar delay equations: z_i dot equals minus k lambda_i z_i at t minus tau. The zero eigenvalue mode is the conserved average; every other mode is z dot equals minus a z at t minus tau, a equals k lambda_i. Trying z of t equals e to the s t gives s equals minus a e to the minus s tau. Instability begins when a root first reaches the imaginary axis, s equals j omega; separating real and imaginary parts gives cosine omega tau equals zero, so omega tau equals pi over two at the first crossing, and omega equals a. Combining: tau_i equals pi over two k lambda_i per mode. The system is stable only while every mode is, so the binding constraint is the fastest mode, lambda_max -- giving tau critical equals pi over two k lambda_max of L. Physically, k lambda_max is the fastest rate the network imposes, and the margin is a quarter period of that mode's oscillation: a quarter-cycle delay turns corrective feedback into destabilizing, out-of-phase feedback.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stressing the system, we confirm nominal behaviour. On the ring, lambda_2 equals 1 and lambda_max equals 4, so with k equals 1 the reference critical delay is pi over eight, about 0.39 seconds. We run at 30 percent of that, tau equals 0.118 seconds. On the left, six trajectories converge from scattered starting poses onto a common point, and RMS disagreement decays smoothly to about 8.3 times ten to the minus nine metres -- numerical zero. Convergence time is 6.22 seconds, settling near the initial centroid, (0.28, 0.11), consistent with undelayed theory. This is the nominal, healthy regime everything else in the talk pushes away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experiment. We sweep tau from zero to twice tau_crit for both delay models and plot final RMS disagreement against tau over tau_crit -- the dashed line marks the threshold. The blue full-state curve is near zero up to about half tau_crit, then jumps by orders of magnitude: 0.61 metres at 0.75 tau_crit, growing to 1.08 at twice tau_crit -- clear loss of rendezvous. Orange neighbour-only stays near numerical zero far beyond the threshold, still converging cleanly at 1.2 tau_crit, degrading only near 2 tau_crit. On the right, at 1.2 tau_crit: neighbour-only decays smoothly while full-state settles into a persistent oscillatory residual around 0.78 metres -- bounded, not diverging to infinity. One caution: the full-state practical crossing happens somewhat below the ideal ratio of one, between 0.5 and 0.75 tau_crit. That's expected -- tau_crit is exact only for the linear model, and the unicycle's heading dynamics, saturation and finite timestep erode that margin. We do not claim the nonlinear system transitions exactly at ratio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Tau_crit proportional to one over lambda_max tells us the delay margin is set by how dense the graph is. We compare path, ring, star and complete topologies, each run at half its own tau_crit for a fair relative comparison. The sparse path has the smallest lambda_max, 3.73, so the largest absolute margin, about 0.42 seconds; star and complete both reach lambda_max equals 6, the smallest margin, about 0.26 seconds. In the bar chart, every connected topology still rendezvouses at equal relative delay, but convergence times order themselves by lambda_2: denser graphs converge faster. So there's a real tension: a graph that produces fast, aggressive consensus is exactly the one that can least afford absolute delay. Lambda_2 buys you speed; lambda_max taxes your delay tolerance.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isolate the consensus gain k, topology fixed at the ring. For each k we recompute tau_crit of k and run at a fixed relative delay, 0.8 times tau_crit of k. Doubling k from 0.5 to 1 halves tau_crit from 0.785 to 0.393 seconds, and doubling again to k equals 2 brings it to 0.196 -- exact inverse proportionality, confirming the formula. This is the practical statement of the speed-robustness trade-off: you cannot make the consensus law arbitrarily aggressive and arbitrarily delay-tolerant at the same time. Gain and topology are the two design levers, and both act through the same k times lambda_max product.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deliberate negative control. We replace the ring with three disjoint pairs -- six robots, three two-node components, no edges between them. The Laplacian of a graph with three components has a zero eigenvalue of multiplicity three, so by the standard definition lambda_2 equals zero: not connected. The average is only conserved within each component, not across components, so global rendezvous is structurally impossible regardless of controller or delay. That's exactly what we see: each pair meets at its own point, three clusters instead of one. This confirms connectivity, captured by lambda_2, not the control law, is what enables global agreement at 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delayed-consensus core extends beyond a single toy rendezvous. Top left: a leader tracks a moving circular reference while the rest follow through delayed neighbour-only consensus. Top right: consensus on shifted coordinates -- position minus a prescribed offset -- turns rendezvous into a rigid formation around an anchor point, the delay analysis carrying over unchanged. Bottom left: continuous repulsive potentials for an obstacle and for robot proximity let the team bend around danger while still rendezvousing with positive clearance. Bottom right: the graph is rebuilt every step from robot positions -- a switching proximity graph -- and the team still converges as long as it stays connected often enough. Together these show the core layer is not a fragile, single-purpose result.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stress tests probe the theory's assumptions. First, we make the delay itself time-varying: tau of t is a sinusoid around 0.95 tau_crit with 25 percent amplitude, swinging between 0.71 and 1.19 times tau_crit, repeatedly crossing the threshold -- left panel. Middle panel: full-state settles into a persistent disagreement around 0.74 metres and never converges, while neighbour-only still converges cleanly to numerical zero in about 9.5 seconds despite the excursions. Consistent with the earlier argument: neighbour-only's true margin, thanks to its self-damping, is larger than the full-state reference, so it absorbs crossings that break the full-state model. Second, on the right, the switching proximity graph's algebraic connectivity fluctuates but never touches zero, which is why the team still converges. Both reinforce the same message: neighbour-only is the more forgiving choice under realistic, non-ideal network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First, communication delay fundamentally interacts with the graph spectrum -- it's coupled to how the network is built and how aggressively it's driven. Second, for the linear full-state model we derived the exact threshold tau_crit equals pi over two k lambda_max of L, verified numerically to separate convergent from divergent regimes. Third, for nonholonomic unicycles tau_crit remains a useful theoretical reference -- behaviour changes character near it -- but it is not an exact nonlinear stability boundary, since the force-projection controller, heading dynamics and saturation are real nonlinearities absent from the linear model. Fourth, neighbour-only communication is considerably more robust in every experiment, since each robot's own current position is always locally available, supplying damping the full-state model lacks. The overarching message: fast consensus, dense connectivity and delay robustness must be designed together, and where the architecture allows it, neighbour-only is the safer choice.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10058400" cy="365760"/>
          </a:xfrm>
          <a:prstGeom prst="rect">
            <a:avLst/>
          </a:prstGeom>
          <a:noFill/>
        </p:spPr>
        <p:txBody>
          <a:bodyPr wrap="square" anchor="t" lIns="0" rIns="0" tIns="0" bIns="0">
            <a:spAutoFit/>
          </a:bodyPr>
          <a:lstStyle/>
          <a:p>
            <a:pPr algn="l">
              <a:lnSpc>
                <a:spcPct val="100000"/>
              </a:lnSpc>
            </a:pPr>
            <a:r>
              <a:rPr sz="1400" b="1" i="0">
                <a:solidFill>
                  <a:srgbClr val="FF9E4A"/>
                </a:solidFill>
                <a:latin typeface="Arial"/>
              </a:rPr>
              <a:t>CONTROL OF MULTI-ROBOT SYSTEMS — PROJECT 2026</a:t>
            </a:r>
          </a:p>
        </p:txBody>
      </p:sp>
      <p:sp>
        <p:nvSpPr>
          <p:cNvPr id="5" name="TextBox 4"/>
          <p:cNvSpPr txBox="1"/>
          <p:nvPr/>
        </p:nvSpPr>
        <p:spPr>
          <a:xfrm>
            <a:off x="914400" y="2377440"/>
            <a:ext cx="10332720" cy="1828800"/>
          </a:xfrm>
          <a:prstGeom prst="rect">
            <a:avLst/>
          </a:prstGeom>
          <a:noFill/>
        </p:spPr>
        <p:txBody>
          <a:bodyPr wrap="square" anchor="t" lIns="0" rIns="0" tIns="0" bIns="0">
            <a:spAutoFit/>
          </a:bodyPr>
          <a:lstStyle/>
          <a:p>
            <a:pPr algn="l">
              <a:lnSpc>
                <a:spcPct val="105000"/>
              </a:lnSpc>
            </a:pPr>
            <a:r>
              <a:rPr sz="3800" b="1" i="0">
                <a:solidFill>
                  <a:srgbClr val="F3F6FB"/>
                </a:solidFill>
                <a:latin typeface="Arial"/>
              </a:rPr>
              <a:t>Delay-Aware Rendezvous of</a:t>
            </a:r>
          </a:p>
          <a:p>
            <a:pPr algn="l">
              <a:lnSpc>
                <a:spcPct val="105000"/>
              </a:lnSpc>
            </a:pPr>
            <a:r>
              <a:rPr sz="3800" b="1" i="0">
                <a:solidFill>
                  <a:srgbClr val="F3F6FB"/>
                </a:solidFill>
                <a:latin typeface="Arial"/>
              </a:rPr>
              <a:t>Nonholonomic Multi-Robot Systems</a:t>
            </a:r>
          </a:p>
        </p:txBody>
      </p:sp>
      <p:sp>
        <p:nvSpPr>
          <p:cNvPr id="6" name="Rectangle 5"/>
          <p:cNvSpPr/>
          <p:nvPr/>
        </p:nvSpPr>
        <p:spPr>
          <a:xfrm>
            <a:off x="932688" y="3794760"/>
            <a:ext cx="1188720" cy="4445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77639"/>
            <a:ext cx="9692640" cy="822960"/>
          </a:xfrm>
          <a:prstGeom prst="rect">
            <a:avLst/>
          </a:prstGeom>
          <a:noFill/>
        </p:spPr>
        <p:txBody>
          <a:bodyPr wrap="square" anchor="t" lIns="0" rIns="0" tIns="0" bIns="0">
            <a:spAutoFit/>
          </a:bodyPr>
          <a:lstStyle/>
          <a:p>
            <a:pPr algn="l">
              <a:lnSpc>
                <a:spcPct val="120000"/>
              </a:lnSpc>
            </a:pPr>
            <a:r>
              <a:rPr sz="1800" b="0" i="1">
                <a:solidFill>
                  <a:srgbClr val="A7B3C8"/>
                </a:solidFill>
                <a:latin typeface="Arial"/>
              </a:rPr>
              <a:t>Communication delays, nonholonomic constraints, and the role</a:t>
            </a:r>
          </a:p>
          <a:p>
            <a:pPr algn="l">
              <a:lnSpc>
                <a:spcPct val="120000"/>
              </a:lnSpc>
            </a:pPr>
            <a:r>
              <a:rPr sz="1800" b="0" i="1">
                <a:solidFill>
                  <a:srgbClr val="A7B3C8"/>
                </a:solidFill>
                <a:latin typeface="Arial"/>
              </a:rPr>
              <a:t>of the critical delay τcrit</a:t>
            </a:r>
          </a:p>
        </p:txBody>
      </p:sp>
      <p:sp>
        <p:nvSpPr>
          <p:cNvPr id="8" name="TextBox 7"/>
          <p:cNvSpPr txBox="1"/>
          <p:nvPr/>
        </p:nvSpPr>
        <p:spPr>
          <a:xfrm>
            <a:off x="914400" y="5669280"/>
            <a:ext cx="9692640" cy="822960"/>
          </a:xfrm>
          <a:prstGeom prst="rect">
            <a:avLst/>
          </a:prstGeom>
          <a:noFill/>
        </p:spPr>
        <p:txBody>
          <a:bodyPr wrap="square" anchor="t" lIns="0" rIns="0" tIns="0" bIns="0">
            <a:spAutoFit/>
          </a:bodyPr>
          <a:lstStyle/>
          <a:p>
            <a:pPr algn="l">
              <a:lnSpc>
                <a:spcPct val="100000"/>
              </a:lnSpc>
            </a:pPr>
            <a:r>
              <a:rPr sz="1700" b="0" i="0">
                <a:solidFill>
                  <a:srgbClr val="F3F6FB"/>
                </a:solidFill>
                <a:latin typeface="Arial"/>
              </a:rPr>
              <a:t>Samuele Civale   ·   Matteo Zamponi   ·   Roberto Passante</a:t>
            </a:r>
          </a:p>
        </p:txBody>
      </p:sp>
      <p:sp>
        <p:nvSpPr>
          <p:cNvPr id="9" name="TextBox 8"/>
          <p:cNvSpPr txBox="1"/>
          <p:nvPr/>
        </p:nvSpPr>
        <p:spPr>
          <a:xfrm>
            <a:off x="914400" y="6035040"/>
            <a:ext cx="9692640" cy="365760"/>
          </a:xfrm>
          <a:prstGeom prst="rect">
            <a:avLst/>
          </a:prstGeom>
          <a:noFill/>
        </p:spPr>
        <p:txBody>
          <a:bodyPr wrap="square" anchor="t" lIns="0" rIns="0" tIns="0" bIns="0">
            <a:spAutoFit/>
          </a:bodyPr>
          <a:lstStyle/>
          <a:p>
            <a:pPr algn="l">
              <a:lnSpc>
                <a:spcPct val="100000"/>
              </a:lnSpc>
            </a:pPr>
            <a:r>
              <a:rPr sz="1300" b="0" i="0">
                <a:solidFill>
                  <a:srgbClr val="A7B3C8"/>
                </a:solidFill>
                <a:latin typeface="Arial"/>
              </a:rPr>
              <a:t>Control of Multi-Robot Systems — Project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MOTIVATION</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Problem &amp; Research Question</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99616"/>
            <a:ext cx="11155680" cy="548640"/>
          </a:xfrm>
          <a:prstGeom prst="rect">
            <a:avLst/>
          </a:prstGeom>
          <a:noFill/>
        </p:spPr>
        <p:txBody>
          <a:bodyPr wrap="square" anchor="t" lIns="0" rIns="0" tIns="0" bIns="0">
            <a:spAutoFit/>
          </a:bodyPr>
          <a:lstStyle/>
          <a:p>
            <a:pPr algn="l">
              <a:lnSpc>
                <a:spcPct val="100000"/>
              </a:lnSpc>
            </a:pPr>
            <a:r>
              <a:rPr sz="1700" b="0" i="1">
                <a:solidFill>
                  <a:srgbClr val="A7B3C8"/>
                </a:solidFill>
                <a:latin typeface="Arial"/>
              </a:rPr>
              <a:t>A team of unicycle robots must rendezvous using only relative position information exchanged over a communication graph, delayed by τ.</a:t>
            </a:r>
          </a:p>
        </p:txBody>
      </p:sp>
      <p:sp>
        <p:nvSpPr>
          <p:cNvPr id="7" name="Rounded Rectangle 6"/>
          <p:cNvSpPr/>
          <p:nvPr/>
        </p:nvSpPr>
        <p:spPr>
          <a:xfrm>
            <a:off x="502920" y="2276856"/>
            <a:ext cx="11183112" cy="960120"/>
          </a:xfrm>
          <a:prstGeom prst="roundRect">
            <a:avLst>
              <a:gd name="adj" fmla="val 15000"/>
            </a:avLst>
          </a:prstGeom>
          <a:solidFill>
            <a:srgbClr val="16243E"/>
          </a:solidFill>
          <a:ln w="19050">
            <a:solidFill>
              <a:srgbClr val="4F9CF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2200" b="1">
                <a:solidFill>
                  <a:srgbClr val="F3F6FB"/>
                </a:solidFill>
                <a:latin typeface="Arial"/>
              </a:rPr>
              <a:t>How much delay can the distributed controller tolerate before rendezvous is lost?</a:t>
            </a:r>
          </a:p>
        </p:txBody>
      </p:sp>
      <p:sp>
        <p:nvSpPr>
          <p:cNvPr id="8" name="Rounded Rectangle 7"/>
          <p:cNvSpPr/>
          <p:nvPr/>
        </p:nvSpPr>
        <p:spPr>
          <a:xfrm>
            <a:off x="1272387" y="3602736"/>
            <a:ext cx="2880360" cy="1417320"/>
          </a:xfrm>
          <a:prstGeom prst="roundRect">
            <a:avLst>
              <a:gd name="adj" fmla="val 12000"/>
            </a:avLst>
          </a:prstGeom>
          <a:solidFill>
            <a:srgbClr val="111D33"/>
          </a:solidFill>
          <a:ln w="22225">
            <a:solidFill>
              <a:srgbClr val="4F9CF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3F6FB"/>
                </a:solidFill>
                <a:latin typeface="Arial"/>
              </a:rPr>
              <a:t>Graph topology</a:t>
            </a:r>
          </a:p>
          <a:p>
            <a:pPr algn="ctr"/>
            <a:r>
              <a:rPr sz="1400">
                <a:solidFill>
                  <a:srgbClr val="4F9CF9"/>
                </a:solidFill>
                <a:latin typeface="Arial"/>
              </a:rPr>
              <a:t>L = D − A</a:t>
            </a:r>
          </a:p>
        </p:txBody>
      </p:sp>
      <p:sp>
        <p:nvSpPr>
          <p:cNvPr id="9" name="Rounded Rectangle 8"/>
          <p:cNvSpPr/>
          <p:nvPr/>
        </p:nvSpPr>
        <p:spPr>
          <a:xfrm>
            <a:off x="4655667" y="3602736"/>
            <a:ext cx="2880360" cy="1417320"/>
          </a:xfrm>
          <a:prstGeom prst="roundRect">
            <a:avLst>
              <a:gd name="adj" fmla="val 12000"/>
            </a:avLst>
          </a:prstGeom>
          <a:solidFill>
            <a:srgbClr val="111D33"/>
          </a:solidFill>
          <a:ln w="22225">
            <a:solidFill>
              <a:srgbClr val="FF9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3F6FB"/>
                </a:solidFill>
                <a:latin typeface="Arial"/>
              </a:rPr>
              <a:t>Communication delay</a:t>
            </a:r>
          </a:p>
          <a:p>
            <a:pPr algn="ctr"/>
            <a:r>
              <a:rPr sz="1400">
                <a:solidFill>
                  <a:srgbClr val="FF9E4A"/>
                </a:solidFill>
                <a:latin typeface="Arial"/>
              </a:rPr>
              <a:t>τ (transport lag)</a:t>
            </a:r>
          </a:p>
        </p:txBody>
      </p:sp>
      <p:sp>
        <p:nvSpPr>
          <p:cNvPr id="10" name="Rounded Rectangle 9"/>
          <p:cNvSpPr/>
          <p:nvPr/>
        </p:nvSpPr>
        <p:spPr>
          <a:xfrm>
            <a:off x="8038947" y="3602736"/>
            <a:ext cx="2880360" cy="1417320"/>
          </a:xfrm>
          <a:prstGeom prst="roundRect">
            <a:avLst>
              <a:gd name="adj" fmla="val 12000"/>
            </a:avLst>
          </a:prstGeom>
          <a:solidFill>
            <a:srgbClr val="111D33"/>
          </a:solidFill>
          <a:ln w="22225">
            <a:solidFill>
              <a:srgbClr val="4CD9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3F6FB"/>
                </a:solidFill>
                <a:latin typeface="Arial"/>
              </a:rPr>
              <a:t>Nonholonomic dynamics</a:t>
            </a:r>
          </a:p>
          <a:p>
            <a:pPr algn="ctr"/>
            <a:r>
              <a:rPr sz="1400">
                <a:solidFill>
                  <a:srgbClr val="4CD988"/>
                </a:solidFill>
                <a:latin typeface="Arial"/>
              </a:rPr>
              <a:t>unicycle (v, ω)</a:t>
            </a:r>
          </a:p>
        </p:txBody>
      </p:sp>
      <p:sp>
        <p:nvSpPr>
          <p:cNvPr id="11" name="TextBox 10"/>
          <p:cNvSpPr txBox="1"/>
          <p:nvPr/>
        </p:nvSpPr>
        <p:spPr>
          <a:xfrm>
            <a:off x="4267047" y="4128516"/>
            <a:ext cx="274320" cy="365760"/>
          </a:xfrm>
          <a:prstGeom prst="rect">
            <a:avLst/>
          </a:prstGeom>
          <a:noFill/>
        </p:spPr>
        <p:txBody>
          <a:bodyPr wrap="square" anchor="t" lIns="0" rIns="0" tIns="0" bIns="0">
            <a:spAutoFit/>
          </a:bodyPr>
          <a:lstStyle/>
          <a:p>
            <a:pPr algn="ctr">
              <a:lnSpc>
                <a:spcPct val="100000"/>
              </a:lnSpc>
            </a:pPr>
            <a:r>
              <a:rPr sz="2600" b="1" i="0">
                <a:solidFill>
                  <a:srgbClr val="A7B3C8"/>
                </a:solidFill>
                <a:latin typeface="Arial"/>
              </a:rPr>
              <a:t>+</a:t>
            </a:r>
          </a:p>
        </p:txBody>
      </p:sp>
      <p:sp>
        <p:nvSpPr>
          <p:cNvPr id="12" name="TextBox 11"/>
          <p:cNvSpPr txBox="1"/>
          <p:nvPr/>
        </p:nvSpPr>
        <p:spPr>
          <a:xfrm>
            <a:off x="7650327" y="4128516"/>
            <a:ext cx="274320" cy="365760"/>
          </a:xfrm>
          <a:prstGeom prst="rect">
            <a:avLst/>
          </a:prstGeom>
          <a:noFill/>
        </p:spPr>
        <p:txBody>
          <a:bodyPr wrap="square" anchor="t" lIns="0" rIns="0" tIns="0" bIns="0">
            <a:spAutoFit/>
          </a:bodyPr>
          <a:lstStyle/>
          <a:p>
            <a:pPr algn="ctr">
              <a:lnSpc>
                <a:spcPct val="100000"/>
              </a:lnSpc>
            </a:pPr>
            <a:r>
              <a:rPr sz="2600" b="1" i="0">
                <a:solidFill>
                  <a:srgbClr val="A7B3C8"/>
                </a:solidFill>
                <a:latin typeface="Arial"/>
              </a:rPr>
              <a:t>+</a:t>
            </a:r>
          </a:p>
        </p:txBody>
      </p:sp>
      <p:sp>
        <p:nvSpPr>
          <p:cNvPr id="13" name="Down Arrow 12"/>
          <p:cNvSpPr/>
          <p:nvPr/>
        </p:nvSpPr>
        <p:spPr>
          <a:xfrm>
            <a:off x="5912967" y="5129784"/>
            <a:ext cx="365760" cy="256032"/>
          </a:xfrm>
          <a:prstGeom prst="downArrow">
            <a:avLst>
              <a:gd name="adj1" fmla="val 55000"/>
              <a:gd name="adj2" fmla="val 55000"/>
            </a:avLst>
          </a:prstGeom>
          <a:solidFill>
            <a:srgbClr val="A7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992727" y="5440680"/>
            <a:ext cx="4206240" cy="457200"/>
          </a:xfrm>
          <a:prstGeom prst="roundRect">
            <a:avLst>
              <a:gd name="adj" fmla="val 22000"/>
            </a:avLst>
          </a:prstGeom>
          <a:solidFill>
            <a:srgbClr val="16243E"/>
          </a:solidFill>
          <a:ln w="15875">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E8C54A"/>
                </a:solidFill>
                <a:latin typeface="Arial"/>
              </a:rPr>
              <a:t>Collective rendezvous stability</a:t>
            </a:r>
          </a:p>
        </p:txBody>
      </p:sp>
      <p:sp>
        <p:nvSpPr>
          <p:cNvPr id="15" name="TextBox 14"/>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16" name="TextBox 15"/>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PRELIMINARIES</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Unicycle Model &amp; Communication Graph</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99616"/>
            <a:ext cx="5760720" cy="274320"/>
          </a:xfrm>
          <a:prstGeom prst="rect">
            <a:avLst/>
          </a:prstGeom>
          <a:noFill/>
        </p:spPr>
        <p:txBody>
          <a:bodyPr wrap="square" anchor="t" lIns="0" rIns="0" tIns="0" bIns="0">
            <a:spAutoFit/>
          </a:bodyPr>
          <a:lstStyle/>
          <a:p>
            <a:pPr algn="l">
              <a:lnSpc>
                <a:spcPct val="100000"/>
              </a:lnSpc>
            </a:pPr>
            <a:r>
              <a:rPr sz="1600" b="1" i="0">
                <a:solidFill>
                  <a:srgbClr val="4F9CF9"/>
                </a:solidFill>
                <a:latin typeface="Arial"/>
              </a:rPr>
              <a:t>Unicycle kinematics</a:t>
            </a:r>
          </a:p>
        </p:txBody>
      </p:sp>
      <p:pic>
        <p:nvPicPr>
          <p:cNvPr id="7" name="Picture 6" descr="eq_unicycle.png"/>
          <p:cNvPicPr>
            <a:picLocks noChangeAspect="1"/>
          </p:cNvPicPr>
          <p:nvPr/>
        </p:nvPicPr>
        <p:blipFill>
          <a:blip r:embed="rId2"/>
          <a:stretch>
            <a:fillRect/>
          </a:stretch>
        </p:blipFill>
        <p:spPr>
          <a:xfrm>
            <a:off x="502920" y="1940944"/>
            <a:ext cx="5577840" cy="534663"/>
          </a:xfrm>
          <a:prstGeom prst="rect">
            <a:avLst/>
          </a:prstGeom>
        </p:spPr>
      </p:pic>
      <p:sp>
        <p:nvSpPr>
          <p:cNvPr id="8" name="TextBox 7"/>
          <p:cNvSpPr txBox="1"/>
          <p:nvPr/>
        </p:nvSpPr>
        <p:spPr>
          <a:xfrm>
            <a:off x="502920" y="2734056"/>
            <a:ext cx="5760720" cy="274320"/>
          </a:xfrm>
          <a:prstGeom prst="rect">
            <a:avLst/>
          </a:prstGeom>
          <a:noFill/>
        </p:spPr>
        <p:txBody>
          <a:bodyPr wrap="square" anchor="t" lIns="0" rIns="0" tIns="0" bIns="0">
            <a:spAutoFit/>
          </a:bodyPr>
          <a:lstStyle/>
          <a:p>
            <a:pPr algn="l">
              <a:lnSpc>
                <a:spcPct val="100000"/>
              </a:lnSpc>
            </a:pPr>
            <a:r>
              <a:rPr sz="1600" b="1" i="0">
                <a:solidFill>
                  <a:srgbClr val="4F9CF9"/>
                </a:solidFill>
                <a:latin typeface="Arial"/>
              </a:rPr>
              <a:t>Graph Laplacian</a:t>
            </a:r>
          </a:p>
        </p:txBody>
      </p:sp>
      <p:pic>
        <p:nvPicPr>
          <p:cNvPr id="9" name="Picture 8" descr="eq_laplacian.png"/>
          <p:cNvPicPr>
            <a:picLocks noChangeAspect="1"/>
          </p:cNvPicPr>
          <p:nvPr/>
        </p:nvPicPr>
        <p:blipFill>
          <a:blip r:embed="rId3"/>
          <a:stretch>
            <a:fillRect/>
          </a:stretch>
        </p:blipFill>
        <p:spPr>
          <a:xfrm>
            <a:off x="502920" y="3054096"/>
            <a:ext cx="1685395" cy="502920"/>
          </a:xfrm>
          <a:prstGeom prst="rect">
            <a:avLst/>
          </a:prstGeom>
        </p:spPr>
      </p:pic>
      <p:pic>
        <p:nvPicPr>
          <p:cNvPr id="10" name="Picture 9" descr="eq_eig_order.png"/>
          <p:cNvPicPr>
            <a:picLocks noChangeAspect="1"/>
          </p:cNvPicPr>
          <p:nvPr/>
        </p:nvPicPr>
        <p:blipFill>
          <a:blip r:embed="rId4"/>
          <a:stretch>
            <a:fillRect/>
          </a:stretch>
        </p:blipFill>
        <p:spPr>
          <a:xfrm>
            <a:off x="502920" y="3648456"/>
            <a:ext cx="3915439" cy="457200"/>
          </a:xfrm>
          <a:prstGeom prst="rect">
            <a:avLst/>
          </a:prstGeom>
        </p:spPr>
      </p:pic>
      <p:sp>
        <p:nvSpPr>
          <p:cNvPr id="11" name="TextBox 10"/>
          <p:cNvSpPr txBox="1"/>
          <p:nvPr/>
        </p:nvSpPr>
        <p:spPr>
          <a:xfrm>
            <a:off x="502920" y="4288536"/>
            <a:ext cx="5760720" cy="2011680"/>
          </a:xfrm>
          <a:prstGeom prst="rect">
            <a:avLst/>
          </a:prstGeom>
          <a:noFill/>
        </p:spPr>
        <p:txBody>
          <a:bodyPr wrap="square" lIns="0" rIns="0" tIns="0" bIns="0">
            <a:spAutoFit/>
          </a:bodyPr>
          <a:lstStyle/>
          <a:p>
            <a:pPr>
              <a:lnSpc>
                <a:spcPct val="108000"/>
              </a:lnSpc>
              <a:spcAft>
                <a:spcPts val="1584"/>
              </a:spcAft>
            </a:pPr>
            <a:r>
              <a:rPr sz="1550" b="0">
                <a:solidFill>
                  <a:srgbClr val="F3F6FB"/>
                </a:solidFill>
                <a:latin typeface="Arial"/>
              </a:rPr>
              <a:t>•  λ₂(L)  —  algebraic connectivity: graph is connected iff λ₂ &gt; 0; sets the nominal convergence rate.</a:t>
            </a:r>
          </a:p>
          <a:p>
            <a:pPr>
              <a:lnSpc>
                <a:spcPct val="108000"/>
              </a:lnSpc>
              <a:spcAft>
                <a:spcPts val="1584"/>
              </a:spcAft>
            </a:pPr>
            <a:r>
              <a:rPr sz="1550" b="0">
                <a:solidFill>
                  <a:srgbClr val="F3F6FB"/>
                </a:solidFill>
                <a:latin typeface="Arial"/>
              </a:rPr>
              <a:t>•  λmax(L)  —  governs the theoretical full-state delay margin (next slides).</a:t>
            </a:r>
          </a:p>
        </p:txBody>
      </p:sp>
      <p:sp>
        <p:nvSpPr>
          <p:cNvPr id="12" name="Rounded Rectangle 11"/>
          <p:cNvSpPr/>
          <p:nvPr/>
        </p:nvSpPr>
        <p:spPr>
          <a:xfrm>
            <a:off x="6812280" y="1271016"/>
            <a:ext cx="4983480" cy="4709160"/>
          </a:xfrm>
          <a:prstGeom prst="roundRect">
            <a:avLst>
              <a:gd name="adj" fmla="val 4000"/>
            </a:avLst>
          </a:prstGeom>
          <a:solidFill>
            <a:srgbClr val="111D33"/>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00_ring_graph.png"/>
          <p:cNvPicPr>
            <a:picLocks noChangeAspect="1"/>
          </p:cNvPicPr>
          <p:nvPr/>
        </p:nvPicPr>
        <p:blipFill>
          <a:blip r:embed="rId5"/>
          <a:stretch>
            <a:fillRect/>
          </a:stretch>
        </p:blipFill>
        <p:spPr>
          <a:xfrm>
            <a:off x="6949440" y="1863889"/>
            <a:ext cx="4709160" cy="2837613"/>
          </a:xfrm>
          <a:prstGeom prst="rect">
            <a:avLst/>
          </a:prstGeom>
        </p:spPr>
      </p:pic>
      <p:sp>
        <p:nvSpPr>
          <p:cNvPr id="14" name="TextBox 13"/>
          <p:cNvSpPr txBox="1"/>
          <p:nvPr/>
        </p:nvSpPr>
        <p:spPr>
          <a:xfrm>
            <a:off x="6949440" y="5230368"/>
            <a:ext cx="4709160" cy="502920"/>
          </a:xfrm>
          <a:prstGeom prst="rect">
            <a:avLst/>
          </a:prstGeom>
          <a:noFill/>
        </p:spPr>
        <p:txBody>
          <a:bodyPr wrap="square" anchor="t" lIns="0" rIns="0" tIns="0" bIns="0">
            <a:spAutoFit/>
          </a:bodyPr>
          <a:lstStyle/>
          <a:p>
            <a:pPr algn="ctr">
              <a:lnSpc>
                <a:spcPct val="100000"/>
              </a:lnSpc>
            </a:pPr>
            <a:r>
              <a:rPr sz="1450" b="0" i="1">
                <a:solidFill>
                  <a:srgbClr val="A7B3C8"/>
                </a:solidFill>
                <a:latin typeface="Arial"/>
              </a:rPr>
              <a:t>Baseline graph: N = 6 ring   →   λ₂ = 1,  λmax = 4</a:t>
            </a:r>
          </a:p>
        </p:txBody>
      </p:sp>
      <p:sp>
        <p:nvSpPr>
          <p:cNvPr id="15" name="TextBox 14"/>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16" name="TextBox 15"/>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MODELLING</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From the Consensus Field to the Unicycle</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99616"/>
            <a:ext cx="11155680" cy="502920"/>
          </a:xfrm>
          <a:prstGeom prst="rect">
            <a:avLst/>
          </a:prstGeom>
          <a:noFill/>
        </p:spPr>
        <p:txBody>
          <a:bodyPr wrap="square" anchor="t" lIns="0" rIns="0" tIns="0" bIns="0">
            <a:spAutoFit/>
          </a:bodyPr>
          <a:lstStyle/>
          <a:p>
            <a:pPr algn="l">
              <a:lnSpc>
                <a:spcPct val="100000"/>
              </a:lnSpc>
            </a:pPr>
            <a:r>
              <a:rPr sz="1650" b="0" i="1">
                <a:solidFill>
                  <a:srgbClr val="A7B3C8"/>
                </a:solidFill>
                <a:latin typeface="Arial"/>
              </a:rPr>
              <a:t>The delayed consensus protocol produces a desired planar velocity ui ∈ R². A unicycle cannot apply it directly: it can only move along its current heading.</a:t>
            </a:r>
          </a:p>
        </p:txBody>
      </p:sp>
      <p:sp>
        <p:nvSpPr>
          <p:cNvPr id="7" name="Rounded Rectangle 6"/>
          <p:cNvSpPr/>
          <p:nvPr/>
        </p:nvSpPr>
        <p:spPr>
          <a:xfrm>
            <a:off x="1615287" y="2276856"/>
            <a:ext cx="2286000" cy="960120"/>
          </a:xfrm>
          <a:prstGeom prst="roundRect">
            <a:avLst>
              <a:gd name="adj" fmla="val 14000"/>
            </a:avLst>
          </a:prstGeom>
          <a:solidFill>
            <a:srgbClr val="111D33"/>
          </a:solidFill>
          <a:ln w="22225">
            <a:solidFill>
              <a:srgbClr val="FF9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3F6FB"/>
                </a:solidFill>
                <a:latin typeface="Arial"/>
              </a:rPr>
              <a:t>desired velocity
ui ∈ R²</a:t>
            </a:r>
          </a:p>
        </p:txBody>
      </p:sp>
      <p:sp>
        <p:nvSpPr>
          <p:cNvPr id="8" name="Right Arrow 7"/>
          <p:cNvSpPr/>
          <p:nvPr/>
        </p:nvSpPr>
        <p:spPr>
          <a:xfrm>
            <a:off x="3956151" y="2628900"/>
            <a:ext cx="393192" cy="256032"/>
          </a:xfrm>
          <a:prstGeom prst="rightArrow">
            <a:avLst>
              <a:gd name="adj1" fmla="val 55000"/>
              <a:gd name="adj2" fmla="val 55000"/>
            </a:avLst>
          </a:prstGeom>
          <a:solidFill>
            <a:srgbClr val="A7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04207" y="2276856"/>
            <a:ext cx="3291840" cy="960120"/>
          </a:xfrm>
          <a:prstGeom prst="roundRect">
            <a:avLst>
              <a:gd name="adj" fmla="val 14000"/>
            </a:avLst>
          </a:prstGeom>
          <a:solidFill>
            <a:srgbClr val="16243E"/>
          </a:solidFill>
          <a:ln w="22225">
            <a:solidFill>
              <a:srgbClr val="4F9CF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50" b="1">
                <a:solidFill>
                  <a:srgbClr val="F3F6FB"/>
                </a:solidFill>
                <a:latin typeface="Arial"/>
              </a:rPr>
              <a:t>force projection onto
heading  ti = (cosθi, sinθi)</a:t>
            </a:r>
          </a:p>
        </p:txBody>
      </p:sp>
      <p:sp>
        <p:nvSpPr>
          <p:cNvPr id="10" name="Right Arrow 9"/>
          <p:cNvSpPr/>
          <p:nvPr/>
        </p:nvSpPr>
        <p:spPr>
          <a:xfrm>
            <a:off x="7750911" y="2628900"/>
            <a:ext cx="393192" cy="256032"/>
          </a:xfrm>
          <a:prstGeom prst="rightArrow">
            <a:avLst>
              <a:gd name="adj1" fmla="val 55000"/>
              <a:gd name="adj2" fmla="val 55000"/>
            </a:avLst>
          </a:prstGeom>
          <a:solidFill>
            <a:srgbClr val="A7B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198967" y="2276856"/>
            <a:ext cx="2377440" cy="960120"/>
          </a:xfrm>
          <a:prstGeom prst="roundRect">
            <a:avLst>
              <a:gd name="adj" fmla="val 14000"/>
            </a:avLst>
          </a:prstGeom>
          <a:solidFill>
            <a:srgbClr val="111D33"/>
          </a:solidFill>
          <a:ln w="22225">
            <a:solidFill>
              <a:srgbClr val="4CD9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3F6FB"/>
                </a:solidFill>
                <a:latin typeface="Arial"/>
              </a:rPr>
              <a:t>admissible unicycle
input (vi, ωi)</a:t>
            </a:r>
          </a:p>
        </p:txBody>
      </p:sp>
      <p:sp>
        <p:nvSpPr>
          <p:cNvPr id="12" name="TextBox 11"/>
          <p:cNvSpPr txBox="1"/>
          <p:nvPr/>
        </p:nvSpPr>
        <p:spPr>
          <a:xfrm>
            <a:off x="502920" y="3739896"/>
            <a:ext cx="11155680" cy="274320"/>
          </a:xfrm>
          <a:prstGeom prst="rect">
            <a:avLst/>
          </a:prstGeom>
          <a:noFill/>
        </p:spPr>
        <p:txBody>
          <a:bodyPr wrap="square" anchor="t" lIns="0" rIns="0" tIns="0" bIns="0">
            <a:spAutoFit/>
          </a:bodyPr>
          <a:lstStyle/>
          <a:p>
            <a:pPr algn="ctr">
              <a:lnSpc>
                <a:spcPct val="100000"/>
              </a:lnSpc>
            </a:pPr>
            <a:r>
              <a:rPr sz="1500" b="1" i="0">
                <a:solidFill>
                  <a:srgbClr val="4F9CF9"/>
                </a:solidFill>
                <a:latin typeface="Arial"/>
              </a:rPr>
              <a:t>Force-projection controller (default, CONTROLLER_TYPE = 'paper')</a:t>
            </a:r>
          </a:p>
        </p:txBody>
      </p:sp>
      <p:pic>
        <p:nvPicPr>
          <p:cNvPr id="13" name="Picture 12" descr="eq_paper_def.png"/>
          <p:cNvPicPr>
            <a:picLocks noChangeAspect="1"/>
          </p:cNvPicPr>
          <p:nvPr/>
        </p:nvPicPr>
        <p:blipFill>
          <a:blip r:embed="rId2"/>
          <a:stretch>
            <a:fillRect/>
          </a:stretch>
        </p:blipFill>
        <p:spPr>
          <a:xfrm>
            <a:off x="1933107" y="4105656"/>
            <a:ext cx="8295305" cy="457200"/>
          </a:xfrm>
          <a:prstGeom prst="rect">
            <a:avLst/>
          </a:prstGeom>
        </p:spPr>
      </p:pic>
      <p:pic>
        <p:nvPicPr>
          <p:cNvPr id="14" name="Picture 13" descr="eq_paper_law.png"/>
          <p:cNvPicPr>
            <a:picLocks noChangeAspect="1"/>
          </p:cNvPicPr>
          <p:nvPr/>
        </p:nvPicPr>
        <p:blipFill>
          <a:blip r:embed="rId3"/>
          <a:stretch>
            <a:fillRect/>
          </a:stretch>
        </p:blipFill>
        <p:spPr>
          <a:xfrm>
            <a:off x="3686666" y="4608576"/>
            <a:ext cx="4788187" cy="685800"/>
          </a:xfrm>
          <a:prstGeom prst="rect">
            <a:avLst/>
          </a:prstGeom>
        </p:spPr>
      </p:pic>
      <p:pic>
        <p:nvPicPr>
          <p:cNvPr id="15" name="Picture 14" descr="eq_e_theta.png"/>
          <p:cNvPicPr>
            <a:picLocks noChangeAspect="1"/>
          </p:cNvPicPr>
          <p:nvPr/>
        </p:nvPicPr>
        <p:blipFill>
          <a:blip r:embed="rId4"/>
          <a:stretch>
            <a:fillRect/>
          </a:stretch>
        </p:blipFill>
        <p:spPr>
          <a:xfrm>
            <a:off x="4828318" y="5294376"/>
            <a:ext cx="2504884" cy="411480"/>
          </a:xfrm>
          <a:prstGeom prst="rect">
            <a:avLst/>
          </a:prstGeom>
        </p:spPr>
      </p:pic>
      <p:sp>
        <p:nvSpPr>
          <p:cNvPr id="16" name="Rounded Rectangle 15"/>
          <p:cNvSpPr/>
          <p:nvPr/>
        </p:nvSpPr>
        <p:spPr>
          <a:xfrm>
            <a:off x="502920" y="5843016"/>
            <a:ext cx="11183112" cy="502920"/>
          </a:xfrm>
          <a:prstGeom prst="roundRect">
            <a:avLst>
              <a:gd name="adj" fmla="val 20000"/>
            </a:avLst>
          </a:prstGeom>
          <a:solidFill>
            <a:srgbClr val="16243E"/>
          </a:solidFill>
          <a:ln w="15875">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ctr"/>
            <a:r>
              <a:rPr sz="1450" i="1">
                <a:solidFill>
                  <a:srgbClr val="E8C54A"/>
                </a:solidFill>
                <a:latin typeface="Arial"/>
              </a:rPr>
              <a:t>Only the projected, heading-aligned component of ui becomes thrust — this nonlinearity is why the linear consensus theorem does not transfer exactly.</a:t>
            </a:r>
          </a:p>
        </p:txBody>
      </p:sp>
      <p:sp>
        <p:nvSpPr>
          <p:cNvPr id="17" name="TextBox 16"/>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18" name="TextBox 17"/>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DELAY MODELLING</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Two Communication Delay Models</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99616"/>
            <a:ext cx="5349240" cy="3977639"/>
          </a:xfrm>
          <a:prstGeom prst="roundRect">
            <a:avLst>
              <a:gd name="adj" fmla="val 6000"/>
            </a:avLst>
          </a:prstGeom>
          <a:solidFill>
            <a:srgbClr val="111D33"/>
          </a:solidFill>
          <a:ln w="22225">
            <a:solidFill>
              <a:srgbClr val="4F9C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00784"/>
            <a:ext cx="4800600" cy="365760"/>
          </a:xfrm>
          <a:prstGeom prst="rect">
            <a:avLst/>
          </a:prstGeom>
          <a:noFill/>
        </p:spPr>
        <p:txBody>
          <a:bodyPr wrap="square" anchor="t" lIns="0" rIns="0" tIns="0" bIns="0">
            <a:spAutoFit/>
          </a:bodyPr>
          <a:lstStyle/>
          <a:p>
            <a:pPr algn="l">
              <a:lnSpc>
                <a:spcPct val="100000"/>
              </a:lnSpc>
            </a:pPr>
            <a:r>
              <a:rPr sz="1700" b="1" i="0">
                <a:solidFill>
                  <a:srgbClr val="4F9CF9"/>
                </a:solidFill>
                <a:latin typeface="Arial"/>
              </a:rPr>
              <a:t>FULL-STATE DELAY</a:t>
            </a:r>
          </a:p>
        </p:txBody>
      </p:sp>
      <p:pic>
        <p:nvPicPr>
          <p:cNvPr id="8" name="Picture 7" descr="eq_fullstate.png"/>
          <p:cNvPicPr>
            <a:picLocks noChangeAspect="1"/>
          </p:cNvPicPr>
          <p:nvPr/>
        </p:nvPicPr>
        <p:blipFill>
          <a:blip r:embed="rId2"/>
          <a:stretch>
            <a:fillRect/>
          </a:stretch>
        </p:blipFill>
        <p:spPr>
          <a:xfrm>
            <a:off x="1403845" y="2276856"/>
            <a:ext cx="3547390" cy="640080"/>
          </a:xfrm>
          <a:prstGeom prst="rect">
            <a:avLst/>
          </a:prstGeom>
        </p:spPr>
      </p:pic>
      <p:sp>
        <p:nvSpPr>
          <p:cNvPr id="9" name="TextBox 8"/>
          <p:cNvSpPr txBox="1"/>
          <p:nvPr/>
        </p:nvSpPr>
        <p:spPr>
          <a:xfrm>
            <a:off x="822960" y="3191256"/>
            <a:ext cx="4709160" cy="1737360"/>
          </a:xfrm>
          <a:prstGeom prst="rect">
            <a:avLst/>
          </a:prstGeom>
          <a:noFill/>
        </p:spPr>
        <p:txBody>
          <a:bodyPr wrap="square" lIns="0" rIns="0" tIns="0" bIns="0">
            <a:spAutoFit/>
          </a:bodyPr>
          <a:lstStyle/>
          <a:p>
            <a:pPr>
              <a:lnSpc>
                <a:spcPct val="108000"/>
              </a:lnSpc>
              <a:spcAft>
                <a:spcPts val="1440"/>
              </a:spcAft>
            </a:pPr>
            <a:r>
              <a:rPr sz="1550" b="0">
                <a:solidFill>
                  <a:srgbClr val="F3F6FB"/>
                </a:solidFill>
                <a:latin typeface="Arial"/>
              </a:rPr>
              <a:t>•  The entire consensus state — including the agent's own position — enters the control law delayed.</a:t>
            </a:r>
          </a:p>
          <a:p>
            <a:pPr>
              <a:lnSpc>
                <a:spcPct val="108000"/>
              </a:lnSpc>
              <a:spcAft>
                <a:spcPts val="1440"/>
              </a:spcAft>
            </a:pPr>
            <a:r>
              <a:rPr sz="1550" b="0">
                <a:solidFill>
                  <a:srgbClr val="F3F6FB"/>
                </a:solidFill>
                <a:latin typeface="Arial"/>
              </a:rPr>
              <a:t>•  No instantaneous self term: the only damping is on old information.</a:t>
            </a:r>
          </a:p>
        </p:txBody>
      </p:sp>
      <p:sp>
        <p:nvSpPr>
          <p:cNvPr id="10" name="Rounded Rectangle 9"/>
          <p:cNvSpPr/>
          <p:nvPr/>
        </p:nvSpPr>
        <p:spPr>
          <a:xfrm>
            <a:off x="6355080" y="1499616"/>
            <a:ext cx="5349240" cy="3977639"/>
          </a:xfrm>
          <a:prstGeom prst="roundRect">
            <a:avLst>
              <a:gd name="adj" fmla="val 6000"/>
            </a:avLst>
          </a:prstGeom>
          <a:solidFill>
            <a:srgbClr val="111D33"/>
          </a:solidFill>
          <a:ln w="22225">
            <a:solidFill>
              <a:srgbClr val="FF9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1700784"/>
            <a:ext cx="4800600" cy="365760"/>
          </a:xfrm>
          <a:prstGeom prst="rect">
            <a:avLst/>
          </a:prstGeom>
          <a:noFill/>
        </p:spPr>
        <p:txBody>
          <a:bodyPr wrap="square" anchor="t" lIns="0" rIns="0" tIns="0" bIns="0">
            <a:spAutoFit/>
          </a:bodyPr>
          <a:lstStyle/>
          <a:p>
            <a:pPr algn="l">
              <a:lnSpc>
                <a:spcPct val="100000"/>
              </a:lnSpc>
            </a:pPr>
            <a:r>
              <a:rPr sz="1700" b="1" i="0">
                <a:solidFill>
                  <a:srgbClr val="FF9E4A"/>
                </a:solidFill>
                <a:latin typeface="Arial"/>
              </a:rPr>
              <a:t>NEIGHBOUR-ONLY DELAY</a:t>
            </a:r>
          </a:p>
        </p:txBody>
      </p:sp>
      <p:pic>
        <p:nvPicPr>
          <p:cNvPr id="12" name="Picture 11" descr="eq_neighboronly.png"/>
          <p:cNvPicPr>
            <a:picLocks noChangeAspect="1"/>
          </p:cNvPicPr>
          <p:nvPr/>
        </p:nvPicPr>
        <p:blipFill>
          <a:blip r:embed="rId3"/>
          <a:stretch>
            <a:fillRect/>
          </a:stretch>
        </p:blipFill>
        <p:spPr>
          <a:xfrm>
            <a:off x="7003970" y="2231136"/>
            <a:ext cx="4051460" cy="777240"/>
          </a:xfrm>
          <a:prstGeom prst="rect">
            <a:avLst/>
          </a:prstGeom>
        </p:spPr>
      </p:pic>
      <p:sp>
        <p:nvSpPr>
          <p:cNvPr id="13" name="TextBox 12"/>
          <p:cNvSpPr txBox="1"/>
          <p:nvPr/>
        </p:nvSpPr>
        <p:spPr>
          <a:xfrm>
            <a:off x="6675120" y="3191256"/>
            <a:ext cx="4709160" cy="1737360"/>
          </a:xfrm>
          <a:prstGeom prst="rect">
            <a:avLst/>
          </a:prstGeom>
          <a:noFill/>
        </p:spPr>
        <p:txBody>
          <a:bodyPr wrap="square" lIns="0" rIns="0" tIns="0" bIns="0">
            <a:spAutoFit/>
          </a:bodyPr>
          <a:lstStyle/>
          <a:p>
            <a:pPr>
              <a:lnSpc>
                <a:spcPct val="108000"/>
              </a:lnSpc>
              <a:spcAft>
                <a:spcPts val="1440"/>
              </a:spcAft>
            </a:pPr>
            <a:r>
              <a:rPr sz="1550" b="0">
                <a:solidFill>
                  <a:srgbClr val="F3F6FB"/>
                </a:solidFill>
                <a:latin typeface="Arial"/>
              </a:rPr>
              <a:t>•  Own state pi(t) is current (locally available); only the communicated neighbour states pj are delayed.</a:t>
            </a:r>
          </a:p>
          <a:p>
            <a:pPr>
              <a:lnSpc>
                <a:spcPct val="108000"/>
              </a:lnSpc>
              <a:spcAft>
                <a:spcPts val="1440"/>
              </a:spcAft>
            </a:pPr>
            <a:r>
              <a:rPr sz="1550" b="0">
                <a:solidFill>
                  <a:srgbClr val="F3F6FB"/>
                </a:solidFill>
                <a:latin typeface="Arial"/>
              </a:rPr>
              <a:t>•  Retains an instantaneous self-damping term ⇒ substantially more delay-tolerant, as the experiments confirm.</a:t>
            </a:r>
          </a:p>
        </p:txBody>
      </p:sp>
      <p:pic>
        <p:nvPicPr>
          <p:cNvPr id="14" name="Picture 13" descr="eq_neighboronly_stacked.png"/>
          <p:cNvPicPr>
            <a:picLocks noChangeAspect="1"/>
          </p:cNvPicPr>
          <p:nvPr/>
        </p:nvPicPr>
        <p:blipFill>
          <a:blip r:embed="rId4"/>
          <a:stretch>
            <a:fillRect/>
          </a:stretch>
        </p:blipFill>
        <p:spPr>
          <a:xfrm>
            <a:off x="7105418" y="4745736"/>
            <a:ext cx="3848564" cy="502920"/>
          </a:xfrm>
          <a:prstGeom prst="rect">
            <a:avLst/>
          </a:prstGeom>
        </p:spPr>
      </p:pic>
      <p:sp>
        <p:nvSpPr>
          <p:cNvPr id="15" name="Rounded Rectangle 14"/>
          <p:cNvSpPr/>
          <p:nvPr/>
        </p:nvSpPr>
        <p:spPr>
          <a:xfrm>
            <a:off x="502920" y="5705855"/>
            <a:ext cx="11183112" cy="502920"/>
          </a:xfrm>
          <a:prstGeom prst="roundRect">
            <a:avLst>
              <a:gd name="adj" fmla="val 20000"/>
            </a:avLst>
          </a:prstGeom>
          <a:solidFill>
            <a:srgbClr val="16243E"/>
          </a:solidFill>
          <a:ln w="15875">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ctr"/>
            <a:r>
              <a:rPr sz="1500" b="1">
                <a:solidFill>
                  <a:srgbClr val="E8C54A"/>
                </a:solidFill>
                <a:latin typeface="Arial"/>
              </a:rPr>
              <a:t>The theoretical τcrit derived next refers exactly to the full-state linear reference model.</a:t>
            </a:r>
          </a:p>
        </p:txBody>
      </p:sp>
      <p:sp>
        <p:nvSpPr>
          <p:cNvPr id="16" name="TextBox 15"/>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17" name="TextBox 16"/>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MAIN THEORY RESULT</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Deriving the Critical Delay τcrit</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99616"/>
            <a:ext cx="3931920" cy="658368"/>
          </a:xfrm>
          <a:prstGeom prst="rect">
            <a:avLst/>
          </a:prstGeom>
          <a:noFill/>
        </p:spPr>
        <p:txBody>
          <a:bodyPr wrap="square" anchor="ctr" lIns="0" rIns="0" tIns="0" bIns="0">
            <a:spAutoFit/>
          </a:bodyPr>
          <a:lstStyle/>
          <a:p>
            <a:pPr algn="l">
              <a:lnSpc>
                <a:spcPct val="100000"/>
              </a:lnSpc>
            </a:pPr>
            <a:r>
              <a:rPr sz="1350" b="0" i="1">
                <a:solidFill>
                  <a:srgbClr val="A7B3C8"/>
                </a:solidFill>
                <a:latin typeface="Arial"/>
              </a:rPr>
              <a:t>1 · Full-state protocol → modal decomposition</a:t>
            </a:r>
          </a:p>
        </p:txBody>
      </p:sp>
      <p:pic>
        <p:nvPicPr>
          <p:cNvPr id="7" name="Picture 6" descr="eq_step1a.png"/>
          <p:cNvPicPr>
            <a:picLocks noChangeAspect="1"/>
          </p:cNvPicPr>
          <p:nvPr/>
        </p:nvPicPr>
        <p:blipFill>
          <a:blip r:embed="rId2"/>
          <a:stretch>
            <a:fillRect/>
          </a:stretch>
        </p:blipFill>
        <p:spPr>
          <a:xfrm>
            <a:off x="4160520" y="1566387"/>
            <a:ext cx="2834640" cy="524826"/>
          </a:xfrm>
          <a:prstGeom prst="rect">
            <a:avLst/>
          </a:prstGeom>
        </p:spPr>
      </p:pic>
      <p:pic>
        <p:nvPicPr>
          <p:cNvPr id="8" name="Picture 7" descr="eq_step1b.png"/>
          <p:cNvPicPr>
            <a:picLocks noChangeAspect="1"/>
          </p:cNvPicPr>
          <p:nvPr/>
        </p:nvPicPr>
        <p:blipFill>
          <a:blip r:embed="rId3"/>
          <a:stretch>
            <a:fillRect/>
          </a:stretch>
        </p:blipFill>
        <p:spPr>
          <a:xfrm>
            <a:off x="7132320" y="1609115"/>
            <a:ext cx="3931920" cy="439370"/>
          </a:xfrm>
          <a:prstGeom prst="rect">
            <a:avLst/>
          </a:prstGeom>
        </p:spPr>
      </p:pic>
      <p:sp>
        <p:nvSpPr>
          <p:cNvPr id="9" name="TextBox 8"/>
          <p:cNvSpPr txBox="1"/>
          <p:nvPr/>
        </p:nvSpPr>
        <p:spPr>
          <a:xfrm>
            <a:off x="502920" y="2212848"/>
            <a:ext cx="3931920" cy="658368"/>
          </a:xfrm>
          <a:prstGeom prst="rect">
            <a:avLst/>
          </a:prstGeom>
          <a:noFill/>
        </p:spPr>
        <p:txBody>
          <a:bodyPr wrap="square" anchor="ctr" lIns="0" rIns="0" tIns="0" bIns="0">
            <a:spAutoFit/>
          </a:bodyPr>
          <a:lstStyle/>
          <a:p>
            <a:pPr algn="l">
              <a:lnSpc>
                <a:spcPct val="100000"/>
              </a:lnSpc>
            </a:pPr>
            <a:r>
              <a:rPr sz="1350" b="0" i="1">
                <a:solidFill>
                  <a:srgbClr val="A7B3C8"/>
                </a:solidFill>
                <a:latin typeface="Arial"/>
              </a:rPr>
              <a:t>2 · Try z(t) = e^{st}: characteristic equation</a:t>
            </a:r>
          </a:p>
        </p:txBody>
      </p:sp>
      <p:pic>
        <p:nvPicPr>
          <p:cNvPr id="10" name="Picture 9" descr="eq_step2.png"/>
          <p:cNvPicPr>
            <a:picLocks noChangeAspect="1"/>
          </p:cNvPicPr>
          <p:nvPr/>
        </p:nvPicPr>
        <p:blipFill>
          <a:blip r:embed="rId4"/>
          <a:stretch>
            <a:fillRect/>
          </a:stretch>
        </p:blipFill>
        <p:spPr>
          <a:xfrm>
            <a:off x="4413554" y="2212848"/>
            <a:ext cx="6443372" cy="658368"/>
          </a:xfrm>
          <a:prstGeom prst="rect">
            <a:avLst/>
          </a:prstGeom>
        </p:spPr>
      </p:pic>
      <p:sp>
        <p:nvSpPr>
          <p:cNvPr id="11" name="TextBox 10"/>
          <p:cNvSpPr txBox="1"/>
          <p:nvPr/>
        </p:nvSpPr>
        <p:spPr>
          <a:xfrm>
            <a:off x="502920" y="2926080"/>
            <a:ext cx="3931920" cy="658368"/>
          </a:xfrm>
          <a:prstGeom prst="rect">
            <a:avLst/>
          </a:prstGeom>
          <a:noFill/>
        </p:spPr>
        <p:txBody>
          <a:bodyPr wrap="square" anchor="ctr" lIns="0" rIns="0" tIns="0" bIns="0">
            <a:spAutoFit/>
          </a:bodyPr>
          <a:lstStyle/>
          <a:p>
            <a:pPr algn="l">
              <a:lnSpc>
                <a:spcPct val="100000"/>
              </a:lnSpc>
            </a:pPr>
            <a:r>
              <a:rPr sz="1350" b="0" i="1">
                <a:solidFill>
                  <a:srgbClr val="A7B3C8"/>
                </a:solidFill>
                <a:latin typeface="Arial"/>
              </a:rPr>
              <a:t>3 · Stability boundary s = jω</a:t>
            </a:r>
          </a:p>
        </p:txBody>
      </p:sp>
      <p:pic>
        <p:nvPicPr>
          <p:cNvPr id="12" name="Picture 11" descr="eq_step3.png"/>
          <p:cNvPicPr>
            <a:picLocks noChangeAspect="1"/>
          </p:cNvPicPr>
          <p:nvPr/>
        </p:nvPicPr>
        <p:blipFill>
          <a:blip r:embed="rId5"/>
          <a:stretch>
            <a:fillRect/>
          </a:stretch>
        </p:blipFill>
        <p:spPr>
          <a:xfrm>
            <a:off x="4160520" y="2941423"/>
            <a:ext cx="7406640" cy="627681"/>
          </a:xfrm>
          <a:prstGeom prst="rect">
            <a:avLst/>
          </a:prstGeom>
        </p:spPr>
      </p:pic>
      <p:sp>
        <p:nvSpPr>
          <p:cNvPr id="13" name="TextBox 12"/>
          <p:cNvSpPr txBox="1"/>
          <p:nvPr/>
        </p:nvSpPr>
        <p:spPr>
          <a:xfrm>
            <a:off x="502920" y="3639312"/>
            <a:ext cx="3931920" cy="658368"/>
          </a:xfrm>
          <a:prstGeom prst="rect">
            <a:avLst/>
          </a:prstGeom>
          <a:noFill/>
        </p:spPr>
        <p:txBody>
          <a:bodyPr wrap="square" anchor="ctr" lIns="0" rIns="0" tIns="0" bIns="0">
            <a:spAutoFit/>
          </a:bodyPr>
          <a:lstStyle/>
          <a:p>
            <a:pPr algn="l">
              <a:lnSpc>
                <a:spcPct val="100000"/>
              </a:lnSpc>
            </a:pPr>
            <a:r>
              <a:rPr sz="1350" b="0" i="1">
                <a:solidFill>
                  <a:srgbClr val="A7B3C8"/>
                </a:solidFill>
                <a:latin typeface="Arial"/>
              </a:rPr>
              <a:t>4 · Real / imaginary parts → first crossing</a:t>
            </a:r>
          </a:p>
        </p:txBody>
      </p:sp>
      <p:pic>
        <p:nvPicPr>
          <p:cNvPr id="14" name="Picture 13" descr="eq_step4.png"/>
          <p:cNvPicPr>
            <a:picLocks noChangeAspect="1"/>
          </p:cNvPicPr>
          <p:nvPr/>
        </p:nvPicPr>
        <p:blipFill>
          <a:blip r:embed="rId6"/>
          <a:stretch>
            <a:fillRect/>
          </a:stretch>
        </p:blipFill>
        <p:spPr>
          <a:xfrm>
            <a:off x="4298753" y="3639312"/>
            <a:ext cx="6855854" cy="658368"/>
          </a:xfrm>
          <a:prstGeom prst="rect">
            <a:avLst/>
          </a:prstGeom>
        </p:spPr>
      </p:pic>
      <p:pic>
        <p:nvPicPr>
          <p:cNvPr id="15" name="Picture 14" descr="eq_step5.png"/>
          <p:cNvPicPr>
            <a:picLocks noChangeAspect="1"/>
          </p:cNvPicPr>
          <p:nvPr/>
        </p:nvPicPr>
        <p:blipFill>
          <a:blip r:embed="rId7"/>
          <a:stretch>
            <a:fillRect/>
          </a:stretch>
        </p:blipFill>
        <p:spPr>
          <a:xfrm>
            <a:off x="3267304" y="4398264"/>
            <a:ext cx="5626911" cy="502920"/>
          </a:xfrm>
          <a:prstGeom prst="rect">
            <a:avLst/>
          </a:prstGeom>
        </p:spPr>
      </p:pic>
      <p:sp>
        <p:nvSpPr>
          <p:cNvPr id="16" name="Rounded Rectangle 15"/>
          <p:cNvSpPr/>
          <p:nvPr/>
        </p:nvSpPr>
        <p:spPr>
          <a:xfrm>
            <a:off x="3078327" y="5038344"/>
            <a:ext cx="6035040" cy="868680"/>
          </a:xfrm>
          <a:prstGeom prst="roundRect">
            <a:avLst>
              <a:gd name="adj" fmla="val 18000"/>
            </a:avLst>
          </a:prstGeom>
          <a:solidFill>
            <a:srgbClr val="16243E"/>
          </a:solidFill>
          <a:ln w="28575">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q_taucrit_big.png"/>
          <p:cNvPicPr>
            <a:picLocks noChangeAspect="1"/>
          </p:cNvPicPr>
          <p:nvPr/>
        </p:nvPicPr>
        <p:blipFill>
          <a:blip r:embed="rId8"/>
          <a:stretch>
            <a:fillRect/>
          </a:stretch>
        </p:blipFill>
        <p:spPr>
          <a:xfrm>
            <a:off x="4561669" y="5111496"/>
            <a:ext cx="3068355" cy="722376"/>
          </a:xfrm>
          <a:prstGeom prst="rect">
            <a:avLst/>
          </a:prstGeom>
        </p:spPr>
      </p:pic>
      <p:sp>
        <p:nvSpPr>
          <p:cNvPr id="18" name="TextBox 17"/>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19" name="TextBox 18"/>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NUMERICAL VALIDATION</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Baseline Rendezvous (Sub-critical Delay)</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99616"/>
            <a:ext cx="3429000" cy="3063240"/>
          </a:xfrm>
          <a:prstGeom prst="roundRect">
            <a:avLst>
              <a:gd name="adj" fmla="val 4000"/>
            </a:avLst>
          </a:prstGeom>
          <a:solidFill>
            <a:srgbClr val="111D33"/>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61772" y="1956976"/>
            <a:ext cx="3511296" cy="2148519"/>
          </a:xfrm>
          <a:prstGeom prst="rect">
            <a:avLst/>
          </a:prstGeom>
          <a:solidFill>
            <a:srgbClr val="FFFFFF"/>
          </a:solidFill>
          <a:ln w="19050">
            <a:solidFill>
              <a:srgbClr val="4F9C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01_full_state_trajectories.png"/>
          <p:cNvPicPr>
            <a:picLocks noChangeAspect="1"/>
          </p:cNvPicPr>
          <p:nvPr/>
        </p:nvPicPr>
        <p:blipFill>
          <a:blip r:embed="rId2"/>
          <a:stretch>
            <a:fillRect/>
          </a:stretch>
        </p:blipFill>
        <p:spPr>
          <a:xfrm>
            <a:off x="502920" y="1998124"/>
            <a:ext cx="3429000" cy="2066223"/>
          </a:xfrm>
          <a:prstGeom prst="rect">
            <a:avLst/>
          </a:prstGeom>
        </p:spPr>
      </p:pic>
      <p:sp>
        <p:nvSpPr>
          <p:cNvPr id="9" name="TextBox 8"/>
          <p:cNvSpPr txBox="1"/>
          <p:nvPr/>
        </p:nvSpPr>
        <p:spPr>
          <a:xfrm>
            <a:off x="502920" y="4562856"/>
            <a:ext cx="3429000" cy="256032"/>
          </a:xfrm>
          <a:prstGeom prst="rect">
            <a:avLst/>
          </a:prstGeom>
          <a:noFill/>
        </p:spPr>
        <p:txBody>
          <a:bodyPr wrap="square" anchor="t" lIns="0" rIns="0" tIns="0" bIns="0">
            <a:spAutoFit/>
          </a:bodyPr>
          <a:lstStyle/>
          <a:p>
            <a:pPr algn="ctr">
              <a:lnSpc>
                <a:spcPct val="100000"/>
              </a:lnSpc>
            </a:pPr>
            <a:r>
              <a:rPr sz="1200" b="0" i="1">
                <a:solidFill>
                  <a:srgbClr val="A7B3C8"/>
                </a:solidFill>
                <a:latin typeface="Arial"/>
              </a:rPr>
              <a:t>Trajectories (animated .mp4 shipped alongside the deck)</a:t>
            </a:r>
          </a:p>
        </p:txBody>
      </p:sp>
      <p:pic>
        <p:nvPicPr>
          <p:cNvPr id="10" name="Picture 9" descr="u01_full_state_disagreement.png"/>
          <p:cNvPicPr>
            <a:picLocks noChangeAspect="1"/>
          </p:cNvPicPr>
          <p:nvPr/>
        </p:nvPicPr>
        <p:blipFill>
          <a:blip r:embed="rId3"/>
          <a:stretch>
            <a:fillRect/>
          </a:stretch>
        </p:blipFill>
        <p:spPr>
          <a:xfrm>
            <a:off x="4160520" y="1998124"/>
            <a:ext cx="3429000" cy="2066223"/>
          </a:xfrm>
          <a:prstGeom prst="rect">
            <a:avLst/>
          </a:prstGeom>
        </p:spPr>
      </p:pic>
      <p:sp>
        <p:nvSpPr>
          <p:cNvPr id="11" name="TextBox 10"/>
          <p:cNvSpPr txBox="1"/>
          <p:nvPr/>
        </p:nvSpPr>
        <p:spPr>
          <a:xfrm>
            <a:off x="4160520" y="4562856"/>
            <a:ext cx="3429000" cy="274320"/>
          </a:xfrm>
          <a:prstGeom prst="rect">
            <a:avLst/>
          </a:prstGeom>
          <a:noFill/>
        </p:spPr>
        <p:txBody>
          <a:bodyPr wrap="square" anchor="t" lIns="0" rIns="0" tIns="0" bIns="0">
            <a:spAutoFit/>
          </a:bodyPr>
          <a:lstStyle/>
          <a:p>
            <a:pPr algn="ctr">
              <a:lnSpc>
                <a:spcPct val="100000"/>
              </a:lnSpc>
            </a:pPr>
            <a:r>
              <a:rPr sz="1300" b="0" i="1">
                <a:solidFill>
                  <a:srgbClr val="A7B3C8"/>
                </a:solidFill>
                <a:latin typeface="Arial"/>
              </a:rPr>
              <a:t>RMS disagreement δ(t)</a:t>
            </a:r>
          </a:p>
        </p:txBody>
      </p:sp>
      <p:sp>
        <p:nvSpPr>
          <p:cNvPr id="12" name="Rounded Rectangle 11"/>
          <p:cNvSpPr/>
          <p:nvPr/>
        </p:nvSpPr>
        <p:spPr>
          <a:xfrm>
            <a:off x="7909560" y="1499616"/>
            <a:ext cx="3776472" cy="3337560"/>
          </a:xfrm>
          <a:prstGeom prst="roundRect">
            <a:avLst>
              <a:gd name="adj" fmla="val 6000"/>
            </a:avLst>
          </a:prstGeom>
          <a:solidFill>
            <a:srgbClr val="111D33"/>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664208"/>
            <a:ext cx="3319272" cy="320040"/>
          </a:xfrm>
          <a:prstGeom prst="rect">
            <a:avLst/>
          </a:prstGeom>
          <a:noFill/>
        </p:spPr>
        <p:txBody>
          <a:bodyPr wrap="square" anchor="t" lIns="0" rIns="0" tIns="0" bIns="0">
            <a:spAutoFit/>
          </a:bodyPr>
          <a:lstStyle/>
          <a:p>
            <a:pPr algn="l">
              <a:lnSpc>
                <a:spcPct val="100000"/>
              </a:lnSpc>
            </a:pPr>
            <a:r>
              <a:rPr sz="1400" b="1" i="0">
                <a:solidFill>
                  <a:srgbClr val="4F9CF9"/>
                </a:solidFill>
                <a:latin typeface="Arial"/>
              </a:rPr>
              <a:t>Ring, N=6  ·  k=1</a:t>
            </a:r>
          </a:p>
        </p:txBody>
      </p:sp>
      <p:pic>
        <p:nvPicPr>
          <p:cNvPr id="14" name="Picture 13" descr="eq_taucrit_ring.png"/>
          <p:cNvPicPr>
            <a:picLocks noChangeAspect="1"/>
          </p:cNvPicPr>
          <p:nvPr/>
        </p:nvPicPr>
        <p:blipFill>
          <a:blip r:embed="rId4"/>
          <a:stretch>
            <a:fillRect/>
          </a:stretch>
        </p:blipFill>
        <p:spPr>
          <a:xfrm>
            <a:off x="8464495" y="2002536"/>
            <a:ext cx="2666601" cy="457200"/>
          </a:xfrm>
          <a:prstGeom prst="rect">
            <a:avLst/>
          </a:prstGeom>
        </p:spPr>
      </p:pic>
      <p:sp>
        <p:nvSpPr>
          <p:cNvPr id="15" name="TextBox 14"/>
          <p:cNvSpPr txBox="1"/>
          <p:nvPr/>
        </p:nvSpPr>
        <p:spPr>
          <a:xfrm>
            <a:off x="8138160" y="2596896"/>
            <a:ext cx="3319272" cy="274320"/>
          </a:xfrm>
          <a:prstGeom prst="rect">
            <a:avLst/>
          </a:prstGeom>
          <a:noFill/>
        </p:spPr>
        <p:txBody>
          <a:bodyPr wrap="square" anchor="t" lIns="0" rIns="0" tIns="0" bIns="0">
            <a:spAutoFit/>
          </a:bodyPr>
          <a:lstStyle/>
          <a:p>
            <a:pPr algn="l">
              <a:lnSpc>
                <a:spcPct val="100000"/>
              </a:lnSpc>
            </a:pPr>
            <a:r>
              <a:rPr sz="1250" b="0" i="0">
                <a:solidFill>
                  <a:srgbClr val="A7B3C8"/>
                </a:solidFill>
                <a:latin typeface="Arial"/>
              </a:rPr>
              <a:t>τ used</a:t>
            </a:r>
          </a:p>
        </p:txBody>
      </p:sp>
      <p:sp>
        <p:nvSpPr>
          <p:cNvPr id="16" name="TextBox 15"/>
          <p:cNvSpPr txBox="1"/>
          <p:nvPr/>
        </p:nvSpPr>
        <p:spPr>
          <a:xfrm>
            <a:off x="8138160" y="2843784"/>
            <a:ext cx="3319272" cy="320040"/>
          </a:xfrm>
          <a:prstGeom prst="rect">
            <a:avLst/>
          </a:prstGeom>
          <a:noFill/>
        </p:spPr>
        <p:txBody>
          <a:bodyPr wrap="square" anchor="t" lIns="0" rIns="0" tIns="0" bIns="0">
            <a:spAutoFit/>
          </a:bodyPr>
          <a:lstStyle/>
          <a:p>
            <a:pPr algn="l">
              <a:lnSpc>
                <a:spcPct val="100000"/>
              </a:lnSpc>
            </a:pPr>
            <a:r>
              <a:rPr sz="1650" b="1" i="0">
                <a:solidFill>
                  <a:srgbClr val="F3F6FB"/>
                </a:solidFill>
                <a:latin typeface="Arial"/>
              </a:rPr>
              <a:t>0.3 τcrit  ≈  0.118 s</a:t>
            </a:r>
          </a:p>
        </p:txBody>
      </p:sp>
      <p:sp>
        <p:nvSpPr>
          <p:cNvPr id="17" name="TextBox 16"/>
          <p:cNvSpPr txBox="1"/>
          <p:nvPr/>
        </p:nvSpPr>
        <p:spPr>
          <a:xfrm>
            <a:off x="8138160" y="3200400"/>
            <a:ext cx="3319272" cy="274320"/>
          </a:xfrm>
          <a:prstGeom prst="rect">
            <a:avLst/>
          </a:prstGeom>
          <a:noFill/>
        </p:spPr>
        <p:txBody>
          <a:bodyPr wrap="square" anchor="t" lIns="0" rIns="0" tIns="0" bIns="0">
            <a:spAutoFit/>
          </a:bodyPr>
          <a:lstStyle/>
          <a:p>
            <a:pPr algn="l">
              <a:lnSpc>
                <a:spcPct val="100000"/>
              </a:lnSpc>
            </a:pPr>
            <a:r>
              <a:rPr sz="1250" b="0" i="0">
                <a:solidFill>
                  <a:srgbClr val="A7B3C8"/>
                </a:solidFill>
                <a:latin typeface="Arial"/>
              </a:rPr>
              <a:t>Final disagreement δ∞</a:t>
            </a:r>
          </a:p>
        </p:txBody>
      </p:sp>
      <p:sp>
        <p:nvSpPr>
          <p:cNvPr id="18" name="TextBox 17"/>
          <p:cNvSpPr txBox="1"/>
          <p:nvPr/>
        </p:nvSpPr>
        <p:spPr>
          <a:xfrm>
            <a:off x="8138160" y="3447288"/>
            <a:ext cx="3319272" cy="320040"/>
          </a:xfrm>
          <a:prstGeom prst="rect">
            <a:avLst/>
          </a:prstGeom>
          <a:noFill/>
        </p:spPr>
        <p:txBody>
          <a:bodyPr wrap="square" anchor="t" lIns="0" rIns="0" tIns="0" bIns="0">
            <a:spAutoFit/>
          </a:bodyPr>
          <a:lstStyle/>
          <a:p>
            <a:pPr algn="l">
              <a:lnSpc>
                <a:spcPct val="100000"/>
              </a:lnSpc>
            </a:pPr>
            <a:r>
              <a:rPr sz="1650" b="1" i="0">
                <a:solidFill>
                  <a:srgbClr val="F3F6FB"/>
                </a:solidFill>
                <a:latin typeface="Arial"/>
              </a:rPr>
              <a:t>≈ 2.7 × 10⁻⁸ m</a:t>
            </a:r>
          </a:p>
        </p:txBody>
      </p:sp>
      <p:sp>
        <p:nvSpPr>
          <p:cNvPr id="19" name="TextBox 18"/>
          <p:cNvSpPr txBox="1"/>
          <p:nvPr/>
        </p:nvSpPr>
        <p:spPr>
          <a:xfrm>
            <a:off x="8138160" y="3803904"/>
            <a:ext cx="3319272" cy="274320"/>
          </a:xfrm>
          <a:prstGeom prst="rect">
            <a:avLst/>
          </a:prstGeom>
          <a:noFill/>
        </p:spPr>
        <p:txBody>
          <a:bodyPr wrap="square" anchor="t" lIns="0" rIns="0" tIns="0" bIns="0">
            <a:spAutoFit/>
          </a:bodyPr>
          <a:lstStyle/>
          <a:p>
            <a:pPr algn="l">
              <a:lnSpc>
                <a:spcPct val="100000"/>
              </a:lnSpc>
            </a:pPr>
            <a:r>
              <a:rPr sz="1250" b="0" i="0">
                <a:solidFill>
                  <a:srgbClr val="A7B3C8"/>
                </a:solidFill>
                <a:latin typeface="Arial"/>
              </a:rPr>
              <a:t>Convergence time</a:t>
            </a:r>
          </a:p>
        </p:txBody>
      </p:sp>
      <p:sp>
        <p:nvSpPr>
          <p:cNvPr id="20" name="TextBox 19"/>
          <p:cNvSpPr txBox="1"/>
          <p:nvPr/>
        </p:nvSpPr>
        <p:spPr>
          <a:xfrm>
            <a:off x="8138160" y="4050792"/>
            <a:ext cx="3319272" cy="320040"/>
          </a:xfrm>
          <a:prstGeom prst="rect">
            <a:avLst/>
          </a:prstGeom>
          <a:noFill/>
        </p:spPr>
        <p:txBody>
          <a:bodyPr wrap="square" anchor="t" lIns="0" rIns="0" tIns="0" bIns="0">
            <a:spAutoFit/>
          </a:bodyPr>
          <a:lstStyle/>
          <a:p>
            <a:pPr algn="l">
              <a:lnSpc>
                <a:spcPct val="100000"/>
              </a:lnSpc>
            </a:pPr>
            <a:r>
              <a:rPr sz="1650" b="1" i="0">
                <a:solidFill>
                  <a:srgbClr val="F3F6FB"/>
                </a:solidFill>
                <a:latin typeface="Arial"/>
              </a:rPr>
              <a:t>11.72 s</a:t>
            </a:r>
          </a:p>
        </p:txBody>
      </p:sp>
      <p:sp>
        <p:nvSpPr>
          <p:cNvPr id="21" name="TextBox 20"/>
          <p:cNvSpPr txBox="1"/>
          <p:nvPr/>
        </p:nvSpPr>
        <p:spPr>
          <a:xfrm>
            <a:off x="8138160" y="4407408"/>
            <a:ext cx="3319272" cy="274320"/>
          </a:xfrm>
          <a:prstGeom prst="rect">
            <a:avLst/>
          </a:prstGeom>
          <a:noFill/>
        </p:spPr>
        <p:txBody>
          <a:bodyPr wrap="square" anchor="t" lIns="0" rIns="0" tIns="0" bIns="0">
            <a:spAutoFit/>
          </a:bodyPr>
          <a:lstStyle/>
          <a:p>
            <a:pPr algn="l">
              <a:lnSpc>
                <a:spcPct val="100000"/>
              </a:lnSpc>
            </a:pPr>
            <a:r>
              <a:rPr sz="1250" b="0" i="0">
                <a:solidFill>
                  <a:srgbClr val="A7B3C8"/>
                </a:solidFill>
                <a:latin typeface="Arial"/>
              </a:rPr>
              <a:t>Final centroid</a:t>
            </a:r>
          </a:p>
        </p:txBody>
      </p:sp>
      <p:sp>
        <p:nvSpPr>
          <p:cNvPr id="22" name="TextBox 21"/>
          <p:cNvSpPr txBox="1"/>
          <p:nvPr/>
        </p:nvSpPr>
        <p:spPr>
          <a:xfrm>
            <a:off x="8138160" y="4654296"/>
            <a:ext cx="3319272" cy="320040"/>
          </a:xfrm>
          <a:prstGeom prst="rect">
            <a:avLst/>
          </a:prstGeom>
          <a:noFill/>
        </p:spPr>
        <p:txBody>
          <a:bodyPr wrap="square" anchor="t" lIns="0" rIns="0" tIns="0" bIns="0">
            <a:spAutoFit/>
          </a:bodyPr>
          <a:lstStyle/>
          <a:p>
            <a:pPr algn="l">
              <a:lnSpc>
                <a:spcPct val="100000"/>
              </a:lnSpc>
            </a:pPr>
            <a:r>
              <a:rPr sz="1650" b="1" i="0">
                <a:solidFill>
                  <a:srgbClr val="F3F6FB"/>
                </a:solidFill>
                <a:latin typeface="Arial"/>
              </a:rPr>
              <a:t>(0.356, 0.328)</a:t>
            </a:r>
          </a:p>
        </p:txBody>
      </p:sp>
      <p:sp>
        <p:nvSpPr>
          <p:cNvPr id="23" name="TextBox 22"/>
          <p:cNvSpPr txBox="1"/>
          <p:nvPr/>
        </p:nvSpPr>
        <p:spPr>
          <a:xfrm>
            <a:off x="502920" y="4974336"/>
            <a:ext cx="11155680" cy="1005840"/>
          </a:xfrm>
          <a:prstGeom prst="rect">
            <a:avLst/>
          </a:prstGeom>
          <a:noFill/>
        </p:spPr>
        <p:txBody>
          <a:bodyPr wrap="square" lIns="0" rIns="0" tIns="0" bIns="0">
            <a:spAutoFit/>
          </a:bodyPr>
          <a:lstStyle/>
          <a:p>
            <a:pPr>
              <a:lnSpc>
                <a:spcPct val="108000"/>
              </a:lnSpc>
              <a:spcAft>
                <a:spcPts val="1296"/>
              </a:spcAft>
            </a:pPr>
            <a:r>
              <a:rPr sz="1600" b="0">
                <a:solidFill>
                  <a:srgbClr val="F3F6FB"/>
                </a:solidFill>
                <a:latin typeface="Arial"/>
              </a:rPr>
              <a:t>•  With τ well below τcrit, the six unicycles rendezvous cleanly; disagreement decays monotonically to numerical zero.</a:t>
            </a:r>
          </a:p>
          <a:p>
            <a:pPr>
              <a:lnSpc>
                <a:spcPct val="108000"/>
              </a:lnSpc>
              <a:spcAft>
                <a:spcPts val="1296"/>
              </a:spcAft>
            </a:pPr>
            <a:r>
              <a:rPr sz="1600" b="0">
                <a:solidFill>
                  <a:srgbClr val="F3F6FB"/>
                </a:solidFill>
                <a:latin typeface="Arial"/>
              </a:rPr>
              <a:t>•  This establishes the nominal, well-behaved regime used as a reference for every later experiment.</a:t>
            </a:r>
          </a:p>
        </p:txBody>
      </p:sp>
      <p:sp>
        <p:nvSpPr>
          <p:cNvPr id="24" name="TextBox 23"/>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25" name="TextBox 24"/>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Τ FROM 0 TO 2 ΤCRIT</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The Central Experiment: Delay Sweep</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03_tau_sweep_summary.png"/>
          <p:cNvPicPr>
            <a:picLocks noChangeAspect="1"/>
          </p:cNvPicPr>
          <p:nvPr/>
        </p:nvPicPr>
        <p:blipFill>
          <a:blip r:embed="rId2"/>
          <a:stretch>
            <a:fillRect/>
          </a:stretch>
        </p:blipFill>
        <p:spPr>
          <a:xfrm>
            <a:off x="909085" y="1499616"/>
            <a:ext cx="4628350" cy="2788920"/>
          </a:xfrm>
          <a:prstGeom prst="rect">
            <a:avLst/>
          </a:prstGeom>
        </p:spPr>
      </p:pic>
      <p:sp>
        <p:nvSpPr>
          <p:cNvPr id="7" name="TextBox 6"/>
          <p:cNvSpPr txBox="1"/>
          <p:nvPr/>
        </p:nvSpPr>
        <p:spPr>
          <a:xfrm>
            <a:off x="502920" y="4288536"/>
            <a:ext cx="5440680" cy="228600"/>
          </a:xfrm>
          <a:prstGeom prst="rect">
            <a:avLst/>
          </a:prstGeom>
          <a:noFill/>
        </p:spPr>
        <p:txBody>
          <a:bodyPr wrap="square" anchor="t" lIns="0" rIns="0" tIns="0" bIns="0">
            <a:spAutoFit/>
          </a:bodyPr>
          <a:lstStyle/>
          <a:p>
            <a:pPr algn="ctr">
              <a:lnSpc>
                <a:spcPct val="100000"/>
              </a:lnSpc>
            </a:pPr>
            <a:r>
              <a:rPr sz="1200" b="0" i="1">
                <a:solidFill>
                  <a:srgbClr val="A7B3C8"/>
                </a:solidFill>
                <a:latin typeface="Arial"/>
              </a:rPr>
              <a:t>Final disagreement vs τ/τcrit (dashed line: τ/τcrit = 1)</a:t>
            </a:r>
          </a:p>
        </p:txBody>
      </p:sp>
      <p:pic>
        <p:nvPicPr>
          <p:cNvPr id="8" name="Picture 7" descr="u03_supracritical_curves.png"/>
          <p:cNvPicPr>
            <a:picLocks noChangeAspect="1"/>
          </p:cNvPicPr>
          <p:nvPr/>
        </p:nvPicPr>
        <p:blipFill>
          <a:blip r:embed="rId3"/>
          <a:stretch>
            <a:fillRect/>
          </a:stretch>
        </p:blipFill>
        <p:spPr>
          <a:xfrm>
            <a:off x="6624085" y="1499616"/>
            <a:ext cx="4628350" cy="2788920"/>
          </a:xfrm>
          <a:prstGeom prst="rect">
            <a:avLst/>
          </a:prstGeom>
        </p:spPr>
      </p:pic>
      <p:sp>
        <p:nvSpPr>
          <p:cNvPr id="9" name="TextBox 8"/>
          <p:cNvSpPr txBox="1"/>
          <p:nvPr/>
        </p:nvSpPr>
        <p:spPr>
          <a:xfrm>
            <a:off x="6217920" y="4288536"/>
            <a:ext cx="5440680" cy="228600"/>
          </a:xfrm>
          <a:prstGeom prst="rect">
            <a:avLst/>
          </a:prstGeom>
          <a:noFill/>
        </p:spPr>
        <p:txBody>
          <a:bodyPr wrap="square" anchor="t" lIns="0" rIns="0" tIns="0" bIns="0">
            <a:spAutoFit/>
          </a:bodyPr>
          <a:lstStyle/>
          <a:p>
            <a:pPr algn="ctr">
              <a:lnSpc>
                <a:spcPct val="100000"/>
              </a:lnSpc>
            </a:pPr>
            <a:r>
              <a:rPr sz="1200" b="0" i="1">
                <a:solidFill>
                  <a:srgbClr val="A7B3C8"/>
                </a:solidFill>
                <a:latin typeface="Arial"/>
              </a:rPr>
              <a:t>Disagreement curves at τ = 1.2 τcrit</a:t>
            </a:r>
          </a:p>
        </p:txBody>
      </p:sp>
      <p:sp>
        <p:nvSpPr>
          <p:cNvPr id="10" name="TextBox 9"/>
          <p:cNvSpPr txBox="1"/>
          <p:nvPr/>
        </p:nvSpPr>
        <p:spPr>
          <a:xfrm>
            <a:off x="502920" y="4581144"/>
            <a:ext cx="11155680" cy="1828800"/>
          </a:xfrm>
          <a:prstGeom prst="rect">
            <a:avLst/>
          </a:prstGeom>
          <a:noFill/>
        </p:spPr>
        <p:txBody>
          <a:bodyPr wrap="square" lIns="0" rIns="0" tIns="0" bIns="0">
            <a:spAutoFit/>
          </a:bodyPr>
          <a:lstStyle/>
          <a:p>
            <a:pPr>
              <a:lnSpc>
                <a:spcPct val="108000"/>
              </a:lnSpc>
              <a:spcAft>
                <a:spcPts val="864"/>
              </a:spcAft>
            </a:pPr>
            <a:r>
              <a:rPr sz="1450" b="0">
                <a:solidFill>
                  <a:srgbClr val="4F9CF9"/>
                </a:solidFill>
                <a:latin typeface="Arial"/>
              </a:rPr>
              <a:t>•  Full-state collapses near the predicted threshold: converges for τ ≤ 0.5 τcrit, fails from τ = 0.75 τcrit onward (δ∞: 0.61 → 1.08 m).</a:t>
            </a:r>
          </a:p>
          <a:p>
            <a:pPr>
              <a:lnSpc>
                <a:spcPct val="108000"/>
              </a:lnSpc>
              <a:spcAft>
                <a:spcPts val="864"/>
              </a:spcAft>
            </a:pPr>
            <a:r>
              <a:rPr sz="1450" b="0">
                <a:solidFill>
                  <a:srgbClr val="FF9E4A"/>
                </a:solidFill>
                <a:latin typeface="Arial"/>
              </a:rPr>
              <a:t>•  Neighbour-only is far more robust: still converges cleanly through 1.2 τcrit, degrading only near 2 τcrit.</a:t>
            </a:r>
          </a:p>
          <a:p>
            <a:pPr>
              <a:lnSpc>
                <a:spcPct val="108000"/>
              </a:lnSpc>
              <a:spcAft>
                <a:spcPts val="864"/>
              </a:spcAft>
            </a:pPr>
            <a:r>
              <a:rPr sz="1450" b="0">
                <a:solidFill>
                  <a:srgbClr val="E8C54A"/>
                </a:solidFill>
                <a:latin typeface="Arial"/>
              </a:rPr>
              <a:t>•  No exact transition at τ/τcrit = 1 for the nonlinear robot: the practical full-state crossing occurs somewhat earlier (projection nonlinearity, finite dt).</a:t>
            </a:r>
          </a:p>
        </p:txBody>
      </p:sp>
      <p:sp>
        <p:nvSpPr>
          <p:cNvPr id="11" name="TextBox 10"/>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12" name="TextBox 11"/>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GRAPH SPECTRUM &amp; DELAY MARGIN</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Why Topology Matters</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04_topology_summary.png"/>
          <p:cNvPicPr>
            <a:picLocks noChangeAspect="1"/>
          </p:cNvPicPr>
          <p:nvPr/>
        </p:nvPicPr>
        <p:blipFill>
          <a:blip r:embed="rId2"/>
          <a:stretch>
            <a:fillRect/>
          </a:stretch>
        </p:blipFill>
        <p:spPr>
          <a:xfrm>
            <a:off x="502920" y="1642609"/>
            <a:ext cx="6126480" cy="3691653"/>
          </a:xfrm>
          <a:prstGeom prst="rect">
            <a:avLst/>
          </a:prstGeom>
        </p:spPr>
      </p:pic>
      <p:sp>
        <p:nvSpPr>
          <p:cNvPr id="7" name="TextBox 6"/>
          <p:cNvSpPr txBox="1"/>
          <p:nvPr/>
        </p:nvSpPr>
        <p:spPr>
          <a:xfrm>
            <a:off x="502920" y="5477255"/>
            <a:ext cx="6126480" cy="274320"/>
          </a:xfrm>
          <a:prstGeom prst="rect">
            <a:avLst/>
          </a:prstGeom>
          <a:noFill/>
        </p:spPr>
        <p:txBody>
          <a:bodyPr wrap="square" anchor="t" lIns="0" rIns="0" tIns="0" bIns="0">
            <a:spAutoFit/>
          </a:bodyPr>
          <a:lstStyle/>
          <a:p>
            <a:pPr algn="ctr">
              <a:lnSpc>
                <a:spcPct val="100000"/>
              </a:lnSpc>
            </a:pPr>
            <a:r>
              <a:rPr sz="1250" b="0" i="1">
                <a:solidFill>
                  <a:srgbClr val="A7B3C8"/>
                </a:solidFill>
                <a:latin typeface="Arial"/>
              </a:rPr>
              <a:t>Convergence time by topology at τ = 0.5 τcrit (each graph normalised by its own τcrit)</a:t>
            </a:r>
          </a:p>
        </p:txBody>
      </p:sp>
      <p:pic>
        <p:nvPicPr>
          <p:cNvPr id="8" name="Picture 7" descr="eq_topology_prop.png"/>
          <p:cNvPicPr>
            <a:picLocks noChangeAspect="1"/>
          </p:cNvPicPr>
          <p:nvPr/>
        </p:nvPicPr>
        <p:blipFill>
          <a:blip r:embed="rId3"/>
          <a:stretch>
            <a:fillRect/>
          </a:stretch>
        </p:blipFill>
        <p:spPr>
          <a:xfrm>
            <a:off x="8101055" y="1591056"/>
            <a:ext cx="2433361" cy="731520"/>
          </a:xfrm>
          <a:prstGeom prst="rect">
            <a:avLst/>
          </a:prstGeom>
        </p:spPr>
      </p:pic>
      <p:sp>
        <p:nvSpPr>
          <p:cNvPr id="9" name="TextBox 8"/>
          <p:cNvSpPr txBox="1"/>
          <p:nvPr/>
        </p:nvSpPr>
        <p:spPr>
          <a:xfrm>
            <a:off x="6949440" y="2505456"/>
            <a:ext cx="1554480" cy="274320"/>
          </a:xfrm>
          <a:prstGeom prst="rect">
            <a:avLst/>
          </a:prstGeom>
          <a:noFill/>
        </p:spPr>
        <p:txBody>
          <a:bodyPr wrap="square" anchor="t" lIns="0" rIns="0" tIns="0" bIns="0">
            <a:spAutoFit/>
          </a:bodyPr>
          <a:lstStyle/>
          <a:p>
            <a:pPr algn="l">
              <a:lnSpc>
                <a:spcPct val="100000"/>
              </a:lnSpc>
            </a:pPr>
            <a:r>
              <a:rPr sz="1300" b="1" i="0">
                <a:solidFill>
                  <a:srgbClr val="A7B3C8"/>
                </a:solidFill>
                <a:latin typeface="Arial"/>
              </a:rPr>
              <a:t>graph</a:t>
            </a:r>
          </a:p>
        </p:txBody>
      </p:sp>
      <p:sp>
        <p:nvSpPr>
          <p:cNvPr id="10" name="TextBox 9"/>
          <p:cNvSpPr txBox="1"/>
          <p:nvPr/>
        </p:nvSpPr>
        <p:spPr>
          <a:xfrm>
            <a:off x="8503920" y="2505456"/>
            <a:ext cx="1371600" cy="274320"/>
          </a:xfrm>
          <a:prstGeom prst="rect">
            <a:avLst/>
          </a:prstGeom>
          <a:noFill/>
        </p:spPr>
        <p:txBody>
          <a:bodyPr wrap="square" anchor="t" lIns="0" rIns="0" tIns="0" bIns="0">
            <a:spAutoFit/>
          </a:bodyPr>
          <a:lstStyle/>
          <a:p>
            <a:pPr algn="l">
              <a:lnSpc>
                <a:spcPct val="100000"/>
              </a:lnSpc>
            </a:pPr>
            <a:r>
              <a:rPr sz="1300" b="1" i="0">
                <a:solidFill>
                  <a:srgbClr val="A7B3C8"/>
                </a:solidFill>
                <a:latin typeface="Arial"/>
              </a:rPr>
              <a:t>λmax</a:t>
            </a:r>
          </a:p>
        </p:txBody>
      </p:sp>
      <p:sp>
        <p:nvSpPr>
          <p:cNvPr id="11" name="TextBox 10"/>
          <p:cNvSpPr txBox="1"/>
          <p:nvPr/>
        </p:nvSpPr>
        <p:spPr>
          <a:xfrm>
            <a:off x="9875520" y="2505456"/>
            <a:ext cx="1737360" cy="274320"/>
          </a:xfrm>
          <a:prstGeom prst="rect">
            <a:avLst/>
          </a:prstGeom>
          <a:noFill/>
        </p:spPr>
        <p:txBody>
          <a:bodyPr wrap="square" anchor="t" lIns="0" rIns="0" tIns="0" bIns="0">
            <a:spAutoFit/>
          </a:bodyPr>
          <a:lstStyle/>
          <a:p>
            <a:pPr algn="l">
              <a:lnSpc>
                <a:spcPct val="100000"/>
              </a:lnSpc>
            </a:pPr>
            <a:r>
              <a:rPr sz="1300" b="1" i="0">
                <a:solidFill>
                  <a:srgbClr val="A7B3C8"/>
                </a:solidFill>
                <a:latin typeface="Arial"/>
              </a:rPr>
              <a:t>τcrit [s]</a:t>
            </a:r>
          </a:p>
        </p:txBody>
      </p:sp>
      <p:sp>
        <p:nvSpPr>
          <p:cNvPr id="12" name="TextBox 11"/>
          <p:cNvSpPr txBox="1"/>
          <p:nvPr/>
        </p:nvSpPr>
        <p:spPr>
          <a:xfrm>
            <a:off x="6949440" y="2825496"/>
            <a:ext cx="1554480" cy="292608"/>
          </a:xfrm>
          <a:prstGeom prst="rect">
            <a:avLst/>
          </a:prstGeom>
          <a:noFill/>
        </p:spPr>
        <p:txBody>
          <a:bodyPr wrap="square" anchor="t" lIns="0" rIns="0" tIns="0" bIns="0">
            <a:spAutoFit/>
          </a:bodyPr>
          <a:lstStyle/>
          <a:p>
            <a:pPr algn="l">
              <a:lnSpc>
                <a:spcPct val="100000"/>
              </a:lnSpc>
            </a:pPr>
            <a:r>
              <a:rPr sz="1500" b="1" i="0">
                <a:solidFill>
                  <a:srgbClr val="F3F6FB"/>
                </a:solidFill>
                <a:latin typeface="Arial"/>
              </a:rPr>
              <a:t>path</a:t>
            </a:r>
          </a:p>
        </p:txBody>
      </p:sp>
      <p:sp>
        <p:nvSpPr>
          <p:cNvPr id="13" name="TextBox 12"/>
          <p:cNvSpPr txBox="1"/>
          <p:nvPr/>
        </p:nvSpPr>
        <p:spPr>
          <a:xfrm>
            <a:off x="8503920" y="2825496"/>
            <a:ext cx="1371600" cy="292608"/>
          </a:xfrm>
          <a:prstGeom prst="rect">
            <a:avLst/>
          </a:prstGeom>
          <a:noFill/>
        </p:spPr>
        <p:txBody>
          <a:bodyPr wrap="square" anchor="t" lIns="0" rIns="0" tIns="0" bIns="0">
            <a:spAutoFit/>
          </a:bodyPr>
          <a:lstStyle/>
          <a:p>
            <a:pPr algn="l">
              <a:lnSpc>
                <a:spcPct val="100000"/>
              </a:lnSpc>
            </a:pPr>
            <a:r>
              <a:rPr sz="1500" b="0" i="0">
                <a:solidFill>
                  <a:srgbClr val="4F9CF9"/>
                </a:solidFill>
                <a:latin typeface="Arial"/>
              </a:rPr>
              <a:t>3.73</a:t>
            </a:r>
          </a:p>
        </p:txBody>
      </p:sp>
      <p:sp>
        <p:nvSpPr>
          <p:cNvPr id="14" name="TextBox 13"/>
          <p:cNvSpPr txBox="1"/>
          <p:nvPr/>
        </p:nvSpPr>
        <p:spPr>
          <a:xfrm>
            <a:off x="9875520" y="2825496"/>
            <a:ext cx="1737360" cy="292608"/>
          </a:xfrm>
          <a:prstGeom prst="rect">
            <a:avLst/>
          </a:prstGeom>
          <a:noFill/>
        </p:spPr>
        <p:txBody>
          <a:bodyPr wrap="square" anchor="t" lIns="0" rIns="0" tIns="0" bIns="0">
            <a:spAutoFit/>
          </a:bodyPr>
          <a:lstStyle/>
          <a:p>
            <a:pPr algn="l">
              <a:lnSpc>
                <a:spcPct val="100000"/>
              </a:lnSpc>
            </a:pPr>
            <a:r>
              <a:rPr sz="1500" b="0" i="0">
                <a:solidFill>
                  <a:srgbClr val="FF9E4A"/>
                </a:solidFill>
                <a:latin typeface="Arial"/>
              </a:rPr>
              <a:t>0.421</a:t>
            </a:r>
          </a:p>
        </p:txBody>
      </p:sp>
      <p:sp>
        <p:nvSpPr>
          <p:cNvPr id="15" name="TextBox 14"/>
          <p:cNvSpPr txBox="1"/>
          <p:nvPr/>
        </p:nvSpPr>
        <p:spPr>
          <a:xfrm>
            <a:off x="6949440" y="3191256"/>
            <a:ext cx="1554480" cy="292608"/>
          </a:xfrm>
          <a:prstGeom prst="rect">
            <a:avLst/>
          </a:prstGeom>
          <a:noFill/>
        </p:spPr>
        <p:txBody>
          <a:bodyPr wrap="square" anchor="t" lIns="0" rIns="0" tIns="0" bIns="0">
            <a:spAutoFit/>
          </a:bodyPr>
          <a:lstStyle/>
          <a:p>
            <a:pPr algn="l">
              <a:lnSpc>
                <a:spcPct val="100000"/>
              </a:lnSpc>
            </a:pPr>
            <a:r>
              <a:rPr sz="1500" b="1" i="0">
                <a:solidFill>
                  <a:srgbClr val="F3F6FB"/>
                </a:solidFill>
                <a:latin typeface="Arial"/>
              </a:rPr>
              <a:t>ring</a:t>
            </a:r>
          </a:p>
        </p:txBody>
      </p:sp>
      <p:sp>
        <p:nvSpPr>
          <p:cNvPr id="16" name="TextBox 15"/>
          <p:cNvSpPr txBox="1"/>
          <p:nvPr/>
        </p:nvSpPr>
        <p:spPr>
          <a:xfrm>
            <a:off x="8503920" y="3191256"/>
            <a:ext cx="1371600" cy="292608"/>
          </a:xfrm>
          <a:prstGeom prst="rect">
            <a:avLst/>
          </a:prstGeom>
          <a:noFill/>
        </p:spPr>
        <p:txBody>
          <a:bodyPr wrap="square" anchor="t" lIns="0" rIns="0" tIns="0" bIns="0">
            <a:spAutoFit/>
          </a:bodyPr>
          <a:lstStyle/>
          <a:p>
            <a:pPr algn="l">
              <a:lnSpc>
                <a:spcPct val="100000"/>
              </a:lnSpc>
            </a:pPr>
            <a:r>
              <a:rPr sz="1500" b="0" i="0">
                <a:solidFill>
                  <a:srgbClr val="4F9CF9"/>
                </a:solidFill>
                <a:latin typeface="Arial"/>
              </a:rPr>
              <a:t>4.00</a:t>
            </a:r>
          </a:p>
        </p:txBody>
      </p:sp>
      <p:sp>
        <p:nvSpPr>
          <p:cNvPr id="17" name="TextBox 16"/>
          <p:cNvSpPr txBox="1"/>
          <p:nvPr/>
        </p:nvSpPr>
        <p:spPr>
          <a:xfrm>
            <a:off x="9875520" y="3191256"/>
            <a:ext cx="1737360" cy="292608"/>
          </a:xfrm>
          <a:prstGeom prst="rect">
            <a:avLst/>
          </a:prstGeom>
          <a:noFill/>
        </p:spPr>
        <p:txBody>
          <a:bodyPr wrap="square" anchor="t" lIns="0" rIns="0" tIns="0" bIns="0">
            <a:spAutoFit/>
          </a:bodyPr>
          <a:lstStyle/>
          <a:p>
            <a:pPr algn="l">
              <a:lnSpc>
                <a:spcPct val="100000"/>
              </a:lnSpc>
            </a:pPr>
            <a:r>
              <a:rPr sz="1500" b="0" i="0">
                <a:solidFill>
                  <a:srgbClr val="FF9E4A"/>
                </a:solidFill>
                <a:latin typeface="Arial"/>
              </a:rPr>
              <a:t>0.393</a:t>
            </a:r>
          </a:p>
        </p:txBody>
      </p:sp>
      <p:sp>
        <p:nvSpPr>
          <p:cNvPr id="18" name="TextBox 17"/>
          <p:cNvSpPr txBox="1"/>
          <p:nvPr/>
        </p:nvSpPr>
        <p:spPr>
          <a:xfrm>
            <a:off x="6949440" y="3557016"/>
            <a:ext cx="1554480" cy="292608"/>
          </a:xfrm>
          <a:prstGeom prst="rect">
            <a:avLst/>
          </a:prstGeom>
          <a:noFill/>
        </p:spPr>
        <p:txBody>
          <a:bodyPr wrap="square" anchor="t" lIns="0" rIns="0" tIns="0" bIns="0">
            <a:spAutoFit/>
          </a:bodyPr>
          <a:lstStyle/>
          <a:p>
            <a:pPr algn="l">
              <a:lnSpc>
                <a:spcPct val="100000"/>
              </a:lnSpc>
            </a:pPr>
            <a:r>
              <a:rPr sz="1500" b="1" i="0">
                <a:solidFill>
                  <a:srgbClr val="F3F6FB"/>
                </a:solidFill>
                <a:latin typeface="Arial"/>
              </a:rPr>
              <a:t>star</a:t>
            </a:r>
          </a:p>
        </p:txBody>
      </p:sp>
      <p:sp>
        <p:nvSpPr>
          <p:cNvPr id="19" name="TextBox 18"/>
          <p:cNvSpPr txBox="1"/>
          <p:nvPr/>
        </p:nvSpPr>
        <p:spPr>
          <a:xfrm>
            <a:off x="8503920" y="3557016"/>
            <a:ext cx="1371600" cy="292608"/>
          </a:xfrm>
          <a:prstGeom prst="rect">
            <a:avLst/>
          </a:prstGeom>
          <a:noFill/>
        </p:spPr>
        <p:txBody>
          <a:bodyPr wrap="square" anchor="t" lIns="0" rIns="0" tIns="0" bIns="0">
            <a:spAutoFit/>
          </a:bodyPr>
          <a:lstStyle/>
          <a:p>
            <a:pPr algn="l">
              <a:lnSpc>
                <a:spcPct val="100000"/>
              </a:lnSpc>
            </a:pPr>
            <a:r>
              <a:rPr sz="1500" b="0" i="0">
                <a:solidFill>
                  <a:srgbClr val="4F9CF9"/>
                </a:solidFill>
                <a:latin typeface="Arial"/>
              </a:rPr>
              <a:t>6.00</a:t>
            </a:r>
          </a:p>
        </p:txBody>
      </p:sp>
      <p:sp>
        <p:nvSpPr>
          <p:cNvPr id="20" name="TextBox 19"/>
          <p:cNvSpPr txBox="1"/>
          <p:nvPr/>
        </p:nvSpPr>
        <p:spPr>
          <a:xfrm>
            <a:off x="9875520" y="3557016"/>
            <a:ext cx="1737360" cy="292608"/>
          </a:xfrm>
          <a:prstGeom prst="rect">
            <a:avLst/>
          </a:prstGeom>
          <a:noFill/>
        </p:spPr>
        <p:txBody>
          <a:bodyPr wrap="square" anchor="t" lIns="0" rIns="0" tIns="0" bIns="0">
            <a:spAutoFit/>
          </a:bodyPr>
          <a:lstStyle/>
          <a:p>
            <a:pPr algn="l">
              <a:lnSpc>
                <a:spcPct val="100000"/>
              </a:lnSpc>
            </a:pPr>
            <a:r>
              <a:rPr sz="1500" b="0" i="0">
                <a:solidFill>
                  <a:srgbClr val="FF9E4A"/>
                </a:solidFill>
                <a:latin typeface="Arial"/>
              </a:rPr>
              <a:t>0.262</a:t>
            </a:r>
          </a:p>
        </p:txBody>
      </p:sp>
      <p:sp>
        <p:nvSpPr>
          <p:cNvPr id="21" name="TextBox 20"/>
          <p:cNvSpPr txBox="1"/>
          <p:nvPr/>
        </p:nvSpPr>
        <p:spPr>
          <a:xfrm>
            <a:off x="6949440" y="3922776"/>
            <a:ext cx="1554480" cy="292608"/>
          </a:xfrm>
          <a:prstGeom prst="rect">
            <a:avLst/>
          </a:prstGeom>
          <a:noFill/>
        </p:spPr>
        <p:txBody>
          <a:bodyPr wrap="square" anchor="t" lIns="0" rIns="0" tIns="0" bIns="0">
            <a:spAutoFit/>
          </a:bodyPr>
          <a:lstStyle/>
          <a:p>
            <a:pPr algn="l">
              <a:lnSpc>
                <a:spcPct val="100000"/>
              </a:lnSpc>
            </a:pPr>
            <a:r>
              <a:rPr sz="1500" b="1" i="0">
                <a:solidFill>
                  <a:srgbClr val="F3F6FB"/>
                </a:solidFill>
                <a:latin typeface="Arial"/>
              </a:rPr>
              <a:t>complete</a:t>
            </a:r>
          </a:p>
        </p:txBody>
      </p:sp>
      <p:sp>
        <p:nvSpPr>
          <p:cNvPr id="22" name="TextBox 21"/>
          <p:cNvSpPr txBox="1"/>
          <p:nvPr/>
        </p:nvSpPr>
        <p:spPr>
          <a:xfrm>
            <a:off x="8503920" y="3922776"/>
            <a:ext cx="1371600" cy="292608"/>
          </a:xfrm>
          <a:prstGeom prst="rect">
            <a:avLst/>
          </a:prstGeom>
          <a:noFill/>
        </p:spPr>
        <p:txBody>
          <a:bodyPr wrap="square" anchor="t" lIns="0" rIns="0" tIns="0" bIns="0">
            <a:spAutoFit/>
          </a:bodyPr>
          <a:lstStyle/>
          <a:p>
            <a:pPr algn="l">
              <a:lnSpc>
                <a:spcPct val="100000"/>
              </a:lnSpc>
            </a:pPr>
            <a:r>
              <a:rPr sz="1500" b="0" i="0">
                <a:solidFill>
                  <a:srgbClr val="4F9CF9"/>
                </a:solidFill>
                <a:latin typeface="Arial"/>
              </a:rPr>
              <a:t>6.00</a:t>
            </a:r>
          </a:p>
        </p:txBody>
      </p:sp>
      <p:sp>
        <p:nvSpPr>
          <p:cNvPr id="23" name="TextBox 22"/>
          <p:cNvSpPr txBox="1"/>
          <p:nvPr/>
        </p:nvSpPr>
        <p:spPr>
          <a:xfrm>
            <a:off x="9875520" y="3922776"/>
            <a:ext cx="1737360" cy="292608"/>
          </a:xfrm>
          <a:prstGeom prst="rect">
            <a:avLst/>
          </a:prstGeom>
          <a:noFill/>
        </p:spPr>
        <p:txBody>
          <a:bodyPr wrap="square" anchor="t" lIns="0" rIns="0" tIns="0" bIns="0">
            <a:spAutoFit/>
          </a:bodyPr>
          <a:lstStyle/>
          <a:p>
            <a:pPr algn="l">
              <a:lnSpc>
                <a:spcPct val="100000"/>
              </a:lnSpc>
            </a:pPr>
            <a:r>
              <a:rPr sz="1500" b="0" i="0">
                <a:solidFill>
                  <a:srgbClr val="FF9E4A"/>
                </a:solidFill>
                <a:latin typeface="Arial"/>
              </a:rPr>
              <a:t>0.262</a:t>
            </a:r>
          </a:p>
        </p:txBody>
      </p:sp>
      <p:sp>
        <p:nvSpPr>
          <p:cNvPr id="24" name="TextBox 23"/>
          <p:cNvSpPr txBox="1"/>
          <p:nvPr/>
        </p:nvSpPr>
        <p:spPr>
          <a:xfrm>
            <a:off x="6949440" y="4517136"/>
            <a:ext cx="4736592" cy="1463040"/>
          </a:xfrm>
          <a:prstGeom prst="rect">
            <a:avLst/>
          </a:prstGeom>
          <a:noFill/>
        </p:spPr>
        <p:txBody>
          <a:bodyPr wrap="square" lIns="0" rIns="0" tIns="0" bIns="0">
            <a:spAutoFit/>
          </a:bodyPr>
          <a:lstStyle/>
          <a:p>
            <a:pPr>
              <a:lnSpc>
                <a:spcPct val="108000"/>
              </a:lnSpc>
              <a:spcAft>
                <a:spcPts val="1008"/>
              </a:spcAft>
            </a:pPr>
            <a:r>
              <a:rPr sz="1450" b="0">
                <a:solidFill>
                  <a:srgbClr val="F3F6FB"/>
                </a:solidFill>
                <a:latin typeface="Arial"/>
              </a:rPr>
              <a:t>•  Denser graphs (star, complete) → larger λmax → smaller absolute delay margin.</a:t>
            </a:r>
          </a:p>
          <a:p>
            <a:pPr>
              <a:lnSpc>
                <a:spcPct val="108000"/>
              </a:lnSpc>
              <a:spcAft>
                <a:spcPts val="1008"/>
              </a:spcAft>
            </a:pPr>
            <a:r>
              <a:rPr sz="1450" b="0">
                <a:solidFill>
                  <a:srgbClr val="F3F6FB"/>
                </a:solidFill>
                <a:latin typeface="Arial"/>
              </a:rPr>
              <a:t>•  Sparse path → smallest λmax → largest margin.</a:t>
            </a:r>
          </a:p>
          <a:p>
            <a:pPr>
              <a:lnSpc>
                <a:spcPct val="108000"/>
              </a:lnSpc>
              <a:spcAft>
                <a:spcPts val="1008"/>
              </a:spcAft>
            </a:pPr>
            <a:r>
              <a:rPr sz="1450" b="0">
                <a:solidFill>
                  <a:srgbClr val="F3F6FB"/>
                </a:solidFill>
                <a:latin typeface="Arial"/>
              </a:rPr>
              <a:t>•  At equal τ/τcrit all connected topologies rendezvous; convergence speed orders itself by λ₂ (denser is faster).</a:t>
            </a:r>
          </a:p>
        </p:txBody>
      </p:sp>
      <p:sp>
        <p:nvSpPr>
          <p:cNvPr id="25" name="TextBox 24"/>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26" name="TextBox 25"/>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SPEED / ROBUSTNESS TRADE-OFF</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Controller Gain vs. Delay Robustness</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11_gain_vs_taucrit.png"/>
          <p:cNvPicPr>
            <a:picLocks noChangeAspect="1"/>
          </p:cNvPicPr>
          <p:nvPr/>
        </p:nvPicPr>
        <p:blipFill>
          <a:blip r:embed="rId2"/>
          <a:stretch>
            <a:fillRect/>
          </a:stretch>
        </p:blipFill>
        <p:spPr>
          <a:xfrm>
            <a:off x="502920" y="1642609"/>
            <a:ext cx="6126480" cy="3691653"/>
          </a:xfrm>
          <a:prstGeom prst="rect">
            <a:avLst/>
          </a:prstGeom>
        </p:spPr>
      </p:pic>
      <p:sp>
        <p:nvSpPr>
          <p:cNvPr id="7" name="TextBox 6"/>
          <p:cNvSpPr txBox="1"/>
          <p:nvPr/>
        </p:nvSpPr>
        <p:spPr>
          <a:xfrm>
            <a:off x="502920" y="5477255"/>
            <a:ext cx="6126480" cy="274320"/>
          </a:xfrm>
          <a:prstGeom prst="rect">
            <a:avLst/>
          </a:prstGeom>
          <a:noFill/>
        </p:spPr>
        <p:txBody>
          <a:bodyPr wrap="square" anchor="t" lIns="0" rIns="0" tIns="0" bIns="0">
            <a:spAutoFit/>
          </a:bodyPr>
          <a:lstStyle/>
          <a:p>
            <a:pPr algn="ctr">
              <a:lnSpc>
                <a:spcPct val="100000"/>
              </a:lnSpc>
            </a:pPr>
            <a:r>
              <a:rPr sz="1250" b="0" i="1">
                <a:solidFill>
                  <a:srgbClr val="A7B3C8"/>
                </a:solidFill>
                <a:latin typeface="Arial"/>
              </a:rPr>
              <a:t>τcrit and final disagreement vs. gain k, each run at fixed relative delay 0.8 τcrit(k)</a:t>
            </a:r>
          </a:p>
        </p:txBody>
      </p:sp>
      <p:pic>
        <p:nvPicPr>
          <p:cNvPr id="8" name="Picture 7" descr="eq_gain_prop.png"/>
          <p:cNvPicPr>
            <a:picLocks noChangeAspect="1"/>
          </p:cNvPicPr>
          <p:nvPr/>
        </p:nvPicPr>
        <p:blipFill>
          <a:blip r:embed="rId3"/>
          <a:stretch>
            <a:fillRect/>
          </a:stretch>
        </p:blipFill>
        <p:spPr>
          <a:xfrm>
            <a:off x="8402493" y="1591056"/>
            <a:ext cx="1830485" cy="731520"/>
          </a:xfrm>
          <a:prstGeom prst="rect">
            <a:avLst/>
          </a:prstGeom>
        </p:spPr>
      </p:pic>
      <p:sp>
        <p:nvSpPr>
          <p:cNvPr id="9" name="TextBox 8"/>
          <p:cNvSpPr txBox="1"/>
          <p:nvPr/>
        </p:nvSpPr>
        <p:spPr>
          <a:xfrm>
            <a:off x="6949440" y="2551176"/>
            <a:ext cx="1828800" cy="274320"/>
          </a:xfrm>
          <a:prstGeom prst="rect">
            <a:avLst/>
          </a:prstGeom>
          <a:noFill/>
        </p:spPr>
        <p:txBody>
          <a:bodyPr wrap="square" anchor="t" lIns="0" rIns="0" tIns="0" bIns="0">
            <a:spAutoFit/>
          </a:bodyPr>
          <a:lstStyle/>
          <a:p>
            <a:pPr algn="l">
              <a:lnSpc>
                <a:spcPct val="100000"/>
              </a:lnSpc>
            </a:pPr>
            <a:r>
              <a:rPr sz="1300" b="1" i="0">
                <a:solidFill>
                  <a:srgbClr val="A7B3C8"/>
                </a:solidFill>
                <a:latin typeface="Arial"/>
              </a:rPr>
              <a:t>gain k</a:t>
            </a:r>
          </a:p>
        </p:txBody>
      </p:sp>
      <p:sp>
        <p:nvSpPr>
          <p:cNvPr id="10" name="TextBox 9"/>
          <p:cNvSpPr txBox="1"/>
          <p:nvPr/>
        </p:nvSpPr>
        <p:spPr>
          <a:xfrm>
            <a:off x="9052560" y="2551176"/>
            <a:ext cx="1828800" cy="274320"/>
          </a:xfrm>
          <a:prstGeom prst="rect">
            <a:avLst/>
          </a:prstGeom>
          <a:noFill/>
        </p:spPr>
        <p:txBody>
          <a:bodyPr wrap="square" anchor="t" lIns="0" rIns="0" tIns="0" bIns="0">
            <a:spAutoFit/>
          </a:bodyPr>
          <a:lstStyle/>
          <a:p>
            <a:pPr algn="l">
              <a:lnSpc>
                <a:spcPct val="100000"/>
              </a:lnSpc>
            </a:pPr>
            <a:r>
              <a:rPr sz="1300" b="1" i="0">
                <a:solidFill>
                  <a:srgbClr val="A7B3C8"/>
                </a:solidFill>
                <a:latin typeface="Arial"/>
              </a:rPr>
              <a:t>τcrit [s]</a:t>
            </a:r>
          </a:p>
        </p:txBody>
      </p:sp>
      <p:sp>
        <p:nvSpPr>
          <p:cNvPr id="11" name="TextBox 10"/>
          <p:cNvSpPr txBox="1"/>
          <p:nvPr/>
        </p:nvSpPr>
        <p:spPr>
          <a:xfrm>
            <a:off x="6949440" y="2871216"/>
            <a:ext cx="1828800" cy="292608"/>
          </a:xfrm>
          <a:prstGeom prst="rect">
            <a:avLst/>
          </a:prstGeom>
          <a:noFill/>
        </p:spPr>
        <p:txBody>
          <a:bodyPr wrap="square" anchor="t" lIns="0" rIns="0" tIns="0" bIns="0">
            <a:spAutoFit/>
          </a:bodyPr>
          <a:lstStyle/>
          <a:p>
            <a:pPr algn="l">
              <a:lnSpc>
                <a:spcPct val="100000"/>
              </a:lnSpc>
            </a:pPr>
            <a:r>
              <a:rPr sz="1600" b="1" i="0">
                <a:solidFill>
                  <a:srgbClr val="F3F6FB"/>
                </a:solidFill>
                <a:latin typeface="Arial"/>
              </a:rPr>
              <a:t>0.5</a:t>
            </a:r>
          </a:p>
        </p:txBody>
      </p:sp>
      <p:sp>
        <p:nvSpPr>
          <p:cNvPr id="12" name="TextBox 11"/>
          <p:cNvSpPr txBox="1"/>
          <p:nvPr/>
        </p:nvSpPr>
        <p:spPr>
          <a:xfrm>
            <a:off x="9052560" y="2871216"/>
            <a:ext cx="1828800" cy="292608"/>
          </a:xfrm>
          <a:prstGeom prst="rect">
            <a:avLst/>
          </a:prstGeom>
          <a:noFill/>
        </p:spPr>
        <p:txBody>
          <a:bodyPr wrap="square" anchor="t" lIns="0" rIns="0" tIns="0" bIns="0">
            <a:spAutoFit/>
          </a:bodyPr>
          <a:lstStyle/>
          <a:p>
            <a:pPr algn="l">
              <a:lnSpc>
                <a:spcPct val="100000"/>
              </a:lnSpc>
            </a:pPr>
            <a:r>
              <a:rPr sz="1600" b="0" i="0">
                <a:solidFill>
                  <a:srgbClr val="4F9CF9"/>
                </a:solidFill>
                <a:latin typeface="Arial"/>
              </a:rPr>
              <a:t>0.785</a:t>
            </a:r>
          </a:p>
        </p:txBody>
      </p:sp>
      <p:sp>
        <p:nvSpPr>
          <p:cNvPr id="13" name="TextBox 12"/>
          <p:cNvSpPr txBox="1"/>
          <p:nvPr/>
        </p:nvSpPr>
        <p:spPr>
          <a:xfrm>
            <a:off x="6949440" y="3236976"/>
            <a:ext cx="1828800" cy="292608"/>
          </a:xfrm>
          <a:prstGeom prst="rect">
            <a:avLst/>
          </a:prstGeom>
          <a:noFill/>
        </p:spPr>
        <p:txBody>
          <a:bodyPr wrap="square" anchor="t" lIns="0" rIns="0" tIns="0" bIns="0">
            <a:spAutoFit/>
          </a:bodyPr>
          <a:lstStyle/>
          <a:p>
            <a:pPr algn="l">
              <a:lnSpc>
                <a:spcPct val="100000"/>
              </a:lnSpc>
            </a:pPr>
            <a:r>
              <a:rPr sz="1600" b="1" i="0">
                <a:solidFill>
                  <a:srgbClr val="F3F6FB"/>
                </a:solidFill>
                <a:latin typeface="Arial"/>
              </a:rPr>
              <a:t>1.0</a:t>
            </a:r>
          </a:p>
        </p:txBody>
      </p:sp>
      <p:sp>
        <p:nvSpPr>
          <p:cNvPr id="14" name="TextBox 13"/>
          <p:cNvSpPr txBox="1"/>
          <p:nvPr/>
        </p:nvSpPr>
        <p:spPr>
          <a:xfrm>
            <a:off x="9052560" y="3236976"/>
            <a:ext cx="1828800" cy="292608"/>
          </a:xfrm>
          <a:prstGeom prst="rect">
            <a:avLst/>
          </a:prstGeom>
          <a:noFill/>
        </p:spPr>
        <p:txBody>
          <a:bodyPr wrap="square" anchor="t" lIns="0" rIns="0" tIns="0" bIns="0">
            <a:spAutoFit/>
          </a:bodyPr>
          <a:lstStyle/>
          <a:p>
            <a:pPr algn="l">
              <a:lnSpc>
                <a:spcPct val="100000"/>
              </a:lnSpc>
            </a:pPr>
            <a:r>
              <a:rPr sz="1600" b="0" i="0">
                <a:solidFill>
                  <a:srgbClr val="4F9CF9"/>
                </a:solidFill>
                <a:latin typeface="Arial"/>
              </a:rPr>
              <a:t>0.393</a:t>
            </a:r>
          </a:p>
        </p:txBody>
      </p:sp>
      <p:sp>
        <p:nvSpPr>
          <p:cNvPr id="15" name="TextBox 14"/>
          <p:cNvSpPr txBox="1"/>
          <p:nvPr/>
        </p:nvSpPr>
        <p:spPr>
          <a:xfrm>
            <a:off x="6949440" y="3602736"/>
            <a:ext cx="1828800" cy="292608"/>
          </a:xfrm>
          <a:prstGeom prst="rect">
            <a:avLst/>
          </a:prstGeom>
          <a:noFill/>
        </p:spPr>
        <p:txBody>
          <a:bodyPr wrap="square" anchor="t" lIns="0" rIns="0" tIns="0" bIns="0">
            <a:spAutoFit/>
          </a:bodyPr>
          <a:lstStyle/>
          <a:p>
            <a:pPr algn="l">
              <a:lnSpc>
                <a:spcPct val="100000"/>
              </a:lnSpc>
            </a:pPr>
            <a:r>
              <a:rPr sz="1600" b="1" i="0">
                <a:solidFill>
                  <a:srgbClr val="F3F6FB"/>
                </a:solidFill>
                <a:latin typeface="Arial"/>
              </a:rPr>
              <a:t>1.5</a:t>
            </a:r>
          </a:p>
        </p:txBody>
      </p:sp>
      <p:sp>
        <p:nvSpPr>
          <p:cNvPr id="16" name="TextBox 15"/>
          <p:cNvSpPr txBox="1"/>
          <p:nvPr/>
        </p:nvSpPr>
        <p:spPr>
          <a:xfrm>
            <a:off x="9052560" y="3602736"/>
            <a:ext cx="1828800" cy="292608"/>
          </a:xfrm>
          <a:prstGeom prst="rect">
            <a:avLst/>
          </a:prstGeom>
          <a:noFill/>
        </p:spPr>
        <p:txBody>
          <a:bodyPr wrap="square" anchor="t" lIns="0" rIns="0" tIns="0" bIns="0">
            <a:spAutoFit/>
          </a:bodyPr>
          <a:lstStyle/>
          <a:p>
            <a:pPr algn="l">
              <a:lnSpc>
                <a:spcPct val="100000"/>
              </a:lnSpc>
            </a:pPr>
            <a:r>
              <a:rPr sz="1600" b="0" i="0">
                <a:solidFill>
                  <a:srgbClr val="4F9CF9"/>
                </a:solidFill>
                <a:latin typeface="Arial"/>
              </a:rPr>
              <a:t>0.262</a:t>
            </a:r>
          </a:p>
        </p:txBody>
      </p:sp>
      <p:sp>
        <p:nvSpPr>
          <p:cNvPr id="17" name="TextBox 16"/>
          <p:cNvSpPr txBox="1"/>
          <p:nvPr/>
        </p:nvSpPr>
        <p:spPr>
          <a:xfrm>
            <a:off x="6949440" y="3968496"/>
            <a:ext cx="1828800" cy="292608"/>
          </a:xfrm>
          <a:prstGeom prst="rect">
            <a:avLst/>
          </a:prstGeom>
          <a:noFill/>
        </p:spPr>
        <p:txBody>
          <a:bodyPr wrap="square" anchor="t" lIns="0" rIns="0" tIns="0" bIns="0">
            <a:spAutoFit/>
          </a:bodyPr>
          <a:lstStyle/>
          <a:p>
            <a:pPr algn="l">
              <a:lnSpc>
                <a:spcPct val="100000"/>
              </a:lnSpc>
            </a:pPr>
            <a:r>
              <a:rPr sz="1600" b="1" i="0">
                <a:solidFill>
                  <a:srgbClr val="F3F6FB"/>
                </a:solidFill>
                <a:latin typeface="Arial"/>
              </a:rPr>
              <a:t>2.0</a:t>
            </a:r>
          </a:p>
        </p:txBody>
      </p:sp>
      <p:sp>
        <p:nvSpPr>
          <p:cNvPr id="18" name="TextBox 17"/>
          <p:cNvSpPr txBox="1"/>
          <p:nvPr/>
        </p:nvSpPr>
        <p:spPr>
          <a:xfrm>
            <a:off x="9052560" y="3968496"/>
            <a:ext cx="1828800" cy="292608"/>
          </a:xfrm>
          <a:prstGeom prst="rect">
            <a:avLst/>
          </a:prstGeom>
          <a:noFill/>
        </p:spPr>
        <p:txBody>
          <a:bodyPr wrap="square" anchor="t" lIns="0" rIns="0" tIns="0" bIns="0">
            <a:spAutoFit/>
          </a:bodyPr>
          <a:lstStyle/>
          <a:p>
            <a:pPr algn="l">
              <a:lnSpc>
                <a:spcPct val="100000"/>
              </a:lnSpc>
            </a:pPr>
            <a:r>
              <a:rPr sz="1600" b="0" i="0">
                <a:solidFill>
                  <a:srgbClr val="4F9CF9"/>
                </a:solidFill>
                <a:latin typeface="Arial"/>
              </a:rPr>
              <a:t>0.196</a:t>
            </a:r>
          </a:p>
        </p:txBody>
      </p:sp>
      <p:sp>
        <p:nvSpPr>
          <p:cNvPr id="19" name="TextBox 18"/>
          <p:cNvSpPr txBox="1"/>
          <p:nvPr/>
        </p:nvSpPr>
        <p:spPr>
          <a:xfrm>
            <a:off x="6949440" y="4608576"/>
            <a:ext cx="4736592" cy="1005840"/>
          </a:xfrm>
          <a:prstGeom prst="rect">
            <a:avLst/>
          </a:prstGeom>
          <a:noFill/>
        </p:spPr>
        <p:txBody>
          <a:bodyPr wrap="square" lIns="0" rIns="0" tIns="0" bIns="0">
            <a:spAutoFit/>
          </a:bodyPr>
          <a:lstStyle/>
          <a:p>
            <a:pPr>
              <a:lnSpc>
                <a:spcPct val="108000"/>
              </a:lnSpc>
              <a:spcAft>
                <a:spcPts val="1152"/>
              </a:spcAft>
            </a:pPr>
            <a:r>
              <a:rPr sz="1450" b="0">
                <a:solidFill>
                  <a:srgbClr val="F3F6FB"/>
                </a:solidFill>
                <a:latin typeface="Arial"/>
              </a:rPr>
              <a:t>•  τcrit ∝ 1/k — halving k doubles the admissible delay.</a:t>
            </a:r>
          </a:p>
          <a:p>
            <a:pPr>
              <a:lnSpc>
                <a:spcPct val="108000"/>
              </a:lnSpc>
              <a:spcAft>
                <a:spcPts val="1152"/>
              </a:spcAft>
            </a:pPr>
            <a:r>
              <a:rPr sz="1450" b="0">
                <a:solidFill>
                  <a:srgbClr val="F3F6FB"/>
                </a:solidFill>
                <a:latin typeface="Arial"/>
              </a:rPr>
              <a:t>•  Higher gain → faster consensus, but smaller admissible delay.</a:t>
            </a:r>
          </a:p>
        </p:txBody>
      </p:sp>
      <p:sp>
        <p:nvSpPr>
          <p:cNvPr id="20" name="Rounded Rectangle 19"/>
          <p:cNvSpPr/>
          <p:nvPr/>
        </p:nvSpPr>
        <p:spPr>
          <a:xfrm>
            <a:off x="6949440" y="5797296"/>
            <a:ext cx="4736592" cy="640080"/>
          </a:xfrm>
          <a:prstGeom prst="roundRect">
            <a:avLst>
              <a:gd name="adj" fmla="val 15000"/>
            </a:avLst>
          </a:prstGeom>
          <a:solidFill>
            <a:srgbClr val="16243E"/>
          </a:solidFill>
          <a:ln w="15875">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a:lstStyle/>
          <a:p>
            <a:pPr algn="ctr"/>
            <a:r>
              <a:rPr sz="1500" b="1" i="1">
                <a:solidFill>
                  <a:srgbClr val="E8C54A"/>
                </a:solidFill>
                <a:latin typeface="Arial"/>
              </a:rPr>
              <a:t>Speed and delay robustness cannot be increased independently.</a:t>
            </a:r>
          </a:p>
        </p:txBody>
      </p:sp>
      <p:sp>
        <p:nvSpPr>
          <p:cNvPr id="21" name="TextBox 20"/>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22" name="TextBox 21"/>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ROLE OF CONNECTIVITY</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Negative Control: Disconnected Graph</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08_disconnected_full_state.png"/>
          <p:cNvPicPr>
            <a:picLocks noChangeAspect="1"/>
          </p:cNvPicPr>
          <p:nvPr/>
        </p:nvPicPr>
        <p:blipFill>
          <a:blip r:embed="rId2"/>
          <a:stretch>
            <a:fillRect/>
          </a:stretch>
        </p:blipFill>
        <p:spPr>
          <a:xfrm>
            <a:off x="502920" y="1986686"/>
            <a:ext cx="5212080" cy="3140660"/>
          </a:xfrm>
          <a:prstGeom prst="rect">
            <a:avLst/>
          </a:prstGeom>
        </p:spPr>
      </p:pic>
      <p:pic>
        <p:nvPicPr>
          <p:cNvPr id="7" name="Picture 6" descr="eq_lambda2_zero.png"/>
          <p:cNvPicPr>
            <a:picLocks noChangeAspect="1"/>
          </p:cNvPicPr>
          <p:nvPr/>
        </p:nvPicPr>
        <p:blipFill>
          <a:blip r:embed="rId3"/>
          <a:stretch>
            <a:fillRect/>
          </a:stretch>
        </p:blipFill>
        <p:spPr>
          <a:xfrm>
            <a:off x="6318291" y="1636776"/>
            <a:ext cx="5084489" cy="548640"/>
          </a:xfrm>
          <a:prstGeom prst="rect">
            <a:avLst/>
          </a:prstGeom>
        </p:spPr>
      </p:pic>
      <p:sp>
        <p:nvSpPr>
          <p:cNvPr id="8" name="TextBox 7"/>
          <p:cNvSpPr txBox="1"/>
          <p:nvPr/>
        </p:nvSpPr>
        <p:spPr>
          <a:xfrm>
            <a:off x="6035040" y="2414016"/>
            <a:ext cx="5650992" cy="2926080"/>
          </a:xfrm>
          <a:prstGeom prst="rect">
            <a:avLst/>
          </a:prstGeom>
          <a:noFill/>
        </p:spPr>
        <p:txBody>
          <a:bodyPr wrap="square" lIns="0" rIns="0" tIns="0" bIns="0">
            <a:spAutoFit/>
          </a:bodyPr>
          <a:lstStyle/>
          <a:p>
            <a:pPr>
              <a:lnSpc>
                <a:spcPct val="108000"/>
              </a:lnSpc>
              <a:spcAft>
                <a:spcPts val="1440"/>
              </a:spcAft>
            </a:pPr>
            <a:r>
              <a:rPr sz="1550" b="0">
                <a:solidFill>
                  <a:srgbClr val="F3F6FB"/>
                </a:solidFill>
                <a:latin typeface="Arial"/>
              </a:rPr>
              <a:t>•  Graph: three disjoint communicating pairs, no edges between pairs.</a:t>
            </a:r>
          </a:p>
          <a:p>
            <a:pPr>
              <a:lnSpc>
                <a:spcPct val="108000"/>
              </a:lnSpc>
              <a:spcAft>
                <a:spcPts val="1440"/>
              </a:spcAft>
            </a:pPr>
            <a:r>
              <a:rPr sz="1550" b="0">
                <a:solidFill>
                  <a:srgbClr val="F3F6FB"/>
                </a:solidFill>
                <a:latin typeface="Arial"/>
              </a:rPr>
              <a:t>•  The Laplacian's zero eigenvalue has multiplicity 3 (one per component): by the standard definition λ₂ = 0, so global rendezvous is impossible.</a:t>
            </a:r>
          </a:p>
          <a:p>
            <a:pPr>
              <a:lnSpc>
                <a:spcPct val="108000"/>
              </a:lnSpc>
              <a:spcAft>
                <a:spcPts val="1440"/>
              </a:spcAft>
            </a:pPr>
            <a:r>
              <a:rPr sz="1550" b="0">
                <a:solidFill>
                  <a:srgbClr val="F3F6FB"/>
                </a:solidFill>
                <a:latin typeface="Arial"/>
              </a:rPr>
              <a:t>•  Each component still reaches its own local agreement: three clusters form instead of one common meeting point.</a:t>
            </a:r>
          </a:p>
          <a:p>
            <a:pPr>
              <a:lnSpc>
                <a:spcPct val="108000"/>
              </a:lnSpc>
              <a:spcAft>
                <a:spcPts val="1440"/>
              </a:spcAft>
            </a:pPr>
            <a:r>
              <a:rPr sz="1550" b="1">
                <a:solidFill>
                  <a:srgbClr val="E8C54A"/>
                </a:solidFill>
                <a:latin typeface="Arial"/>
              </a:rPr>
              <a:t>•  Negative control: connectivity, not the control law, is what enables global agreement.</a:t>
            </a:r>
          </a:p>
        </p:txBody>
      </p:sp>
      <p:sp>
        <p:nvSpPr>
          <p:cNvPr id="9" name="TextBox 8"/>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10" name="TextBox 9"/>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EXTENSIONS OF THE DELAYED-CONSENSUS CORE</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Beyond Basic Rendezvous</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99616"/>
            <a:ext cx="5394960" cy="2331720"/>
          </a:xfrm>
          <a:prstGeom prst="roundRect">
            <a:avLst>
              <a:gd name="adj" fmla="val 5000"/>
            </a:avLst>
          </a:prstGeom>
          <a:solidFill>
            <a:srgbClr val="111D33"/>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15_leader_follower_trajectories.png"/>
          <p:cNvPicPr>
            <a:picLocks noChangeAspect="1"/>
          </p:cNvPicPr>
          <p:nvPr/>
        </p:nvPicPr>
        <p:blipFill>
          <a:blip r:embed="rId2"/>
          <a:stretch>
            <a:fillRect/>
          </a:stretch>
        </p:blipFill>
        <p:spPr>
          <a:xfrm>
            <a:off x="1569096" y="1554480"/>
            <a:ext cx="3262607" cy="1965960"/>
          </a:xfrm>
          <a:prstGeom prst="rect">
            <a:avLst/>
          </a:prstGeom>
        </p:spPr>
      </p:pic>
      <p:sp>
        <p:nvSpPr>
          <p:cNvPr id="8" name="TextBox 7"/>
          <p:cNvSpPr txBox="1"/>
          <p:nvPr/>
        </p:nvSpPr>
        <p:spPr>
          <a:xfrm>
            <a:off x="502920" y="3557016"/>
            <a:ext cx="5394960" cy="274320"/>
          </a:xfrm>
          <a:prstGeom prst="rect">
            <a:avLst/>
          </a:prstGeom>
          <a:noFill/>
        </p:spPr>
        <p:txBody>
          <a:bodyPr wrap="square" anchor="ctr" lIns="0" rIns="0" tIns="0" bIns="0">
            <a:spAutoFit/>
          </a:bodyPr>
          <a:lstStyle/>
          <a:p>
            <a:pPr algn="ctr">
              <a:lnSpc>
                <a:spcPct val="100000"/>
              </a:lnSpc>
            </a:pPr>
            <a:r>
              <a:rPr sz="1350" b="1" i="0">
                <a:solidFill>
                  <a:srgbClr val="F3F6FB"/>
                </a:solidFill>
                <a:latin typeface="Arial"/>
              </a:rPr>
              <a:t>Leader–follower with moving target</a:t>
            </a:r>
          </a:p>
        </p:txBody>
      </p:sp>
      <p:sp>
        <p:nvSpPr>
          <p:cNvPr id="9" name="Rounded Rectangle 8"/>
          <p:cNvSpPr/>
          <p:nvPr/>
        </p:nvSpPr>
        <p:spPr>
          <a:xfrm>
            <a:off x="6217920" y="1499616"/>
            <a:ext cx="5394960" cy="2331720"/>
          </a:xfrm>
          <a:prstGeom prst="roundRect">
            <a:avLst>
              <a:gd name="adj" fmla="val 5000"/>
            </a:avLst>
          </a:prstGeom>
          <a:solidFill>
            <a:srgbClr val="111D33"/>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u16_formation_trajectories.png"/>
          <p:cNvPicPr>
            <a:picLocks noChangeAspect="1"/>
          </p:cNvPicPr>
          <p:nvPr/>
        </p:nvPicPr>
        <p:blipFill>
          <a:blip r:embed="rId3"/>
          <a:stretch>
            <a:fillRect/>
          </a:stretch>
        </p:blipFill>
        <p:spPr>
          <a:xfrm>
            <a:off x="7284096" y="1554480"/>
            <a:ext cx="3262607" cy="1965960"/>
          </a:xfrm>
          <a:prstGeom prst="rect">
            <a:avLst/>
          </a:prstGeom>
        </p:spPr>
      </p:pic>
      <p:sp>
        <p:nvSpPr>
          <p:cNvPr id="11" name="TextBox 10"/>
          <p:cNvSpPr txBox="1"/>
          <p:nvPr/>
        </p:nvSpPr>
        <p:spPr>
          <a:xfrm>
            <a:off x="6217920" y="3557016"/>
            <a:ext cx="5394960" cy="274320"/>
          </a:xfrm>
          <a:prstGeom prst="rect">
            <a:avLst/>
          </a:prstGeom>
          <a:noFill/>
        </p:spPr>
        <p:txBody>
          <a:bodyPr wrap="square" anchor="ctr" lIns="0" rIns="0" tIns="0" bIns="0">
            <a:spAutoFit/>
          </a:bodyPr>
          <a:lstStyle/>
          <a:p>
            <a:pPr algn="ctr">
              <a:lnSpc>
                <a:spcPct val="100000"/>
              </a:lnSpc>
            </a:pPr>
            <a:r>
              <a:rPr sz="1350" b="1" i="0">
                <a:solidFill>
                  <a:srgbClr val="F3F6FB"/>
                </a:solidFill>
                <a:latin typeface="Arial"/>
              </a:rPr>
              <a:t>Rigid formation (offset consensus)</a:t>
            </a:r>
          </a:p>
        </p:txBody>
      </p:sp>
      <p:sp>
        <p:nvSpPr>
          <p:cNvPr id="12" name="Rounded Rectangle 11"/>
          <p:cNvSpPr/>
          <p:nvPr/>
        </p:nvSpPr>
        <p:spPr>
          <a:xfrm>
            <a:off x="502920" y="3941064"/>
            <a:ext cx="5394960" cy="2331720"/>
          </a:xfrm>
          <a:prstGeom prst="roundRect">
            <a:avLst>
              <a:gd name="adj" fmla="val 5000"/>
            </a:avLst>
          </a:prstGeom>
          <a:solidFill>
            <a:srgbClr val="111D33"/>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19_avoidance_trajectories.png"/>
          <p:cNvPicPr>
            <a:picLocks noChangeAspect="1"/>
          </p:cNvPicPr>
          <p:nvPr/>
        </p:nvPicPr>
        <p:blipFill>
          <a:blip r:embed="rId4"/>
          <a:stretch>
            <a:fillRect/>
          </a:stretch>
        </p:blipFill>
        <p:spPr>
          <a:xfrm>
            <a:off x="1569096" y="3995928"/>
            <a:ext cx="3262607" cy="1965960"/>
          </a:xfrm>
          <a:prstGeom prst="rect">
            <a:avLst/>
          </a:prstGeom>
        </p:spPr>
      </p:pic>
      <p:sp>
        <p:nvSpPr>
          <p:cNvPr id="14" name="TextBox 13"/>
          <p:cNvSpPr txBox="1"/>
          <p:nvPr/>
        </p:nvSpPr>
        <p:spPr>
          <a:xfrm>
            <a:off x="502920" y="5998464"/>
            <a:ext cx="5394960" cy="274320"/>
          </a:xfrm>
          <a:prstGeom prst="rect">
            <a:avLst/>
          </a:prstGeom>
          <a:noFill/>
        </p:spPr>
        <p:txBody>
          <a:bodyPr wrap="square" anchor="ctr" lIns="0" rIns="0" tIns="0" bIns="0">
            <a:spAutoFit/>
          </a:bodyPr>
          <a:lstStyle/>
          <a:p>
            <a:pPr algn="ctr">
              <a:lnSpc>
                <a:spcPct val="100000"/>
              </a:lnSpc>
            </a:pPr>
            <a:r>
              <a:rPr sz="1350" b="1" i="0">
                <a:solidFill>
                  <a:srgbClr val="F3F6FB"/>
                </a:solidFill>
                <a:latin typeface="Arial"/>
              </a:rPr>
              <a:t>Obstacle &amp; inter-robot avoidance</a:t>
            </a:r>
          </a:p>
        </p:txBody>
      </p:sp>
      <p:sp>
        <p:nvSpPr>
          <p:cNvPr id="15" name="Rounded Rectangle 14"/>
          <p:cNvSpPr/>
          <p:nvPr/>
        </p:nvSpPr>
        <p:spPr>
          <a:xfrm>
            <a:off x="6217920" y="3941064"/>
            <a:ext cx="5394960" cy="2331720"/>
          </a:xfrm>
          <a:prstGeom prst="roundRect">
            <a:avLst>
              <a:gd name="adj" fmla="val 5000"/>
            </a:avLst>
          </a:prstGeom>
          <a:solidFill>
            <a:srgbClr val="111D33"/>
          </a:solidFill>
          <a:ln w="9525">
            <a:solidFill>
              <a:srgbClr val="2A3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20_switching_graph_trajectories.png"/>
          <p:cNvPicPr>
            <a:picLocks noChangeAspect="1"/>
          </p:cNvPicPr>
          <p:nvPr/>
        </p:nvPicPr>
        <p:blipFill>
          <a:blip r:embed="rId5"/>
          <a:stretch>
            <a:fillRect/>
          </a:stretch>
        </p:blipFill>
        <p:spPr>
          <a:xfrm>
            <a:off x="7284096" y="3995928"/>
            <a:ext cx="3262607" cy="1965960"/>
          </a:xfrm>
          <a:prstGeom prst="rect">
            <a:avLst/>
          </a:prstGeom>
        </p:spPr>
      </p:pic>
      <p:sp>
        <p:nvSpPr>
          <p:cNvPr id="17" name="TextBox 16"/>
          <p:cNvSpPr txBox="1"/>
          <p:nvPr/>
        </p:nvSpPr>
        <p:spPr>
          <a:xfrm>
            <a:off x="6217920" y="5998464"/>
            <a:ext cx="5394960" cy="274320"/>
          </a:xfrm>
          <a:prstGeom prst="rect">
            <a:avLst/>
          </a:prstGeom>
          <a:noFill/>
        </p:spPr>
        <p:txBody>
          <a:bodyPr wrap="square" anchor="ctr" lIns="0" rIns="0" tIns="0" bIns="0">
            <a:spAutoFit/>
          </a:bodyPr>
          <a:lstStyle/>
          <a:p>
            <a:pPr algn="ctr">
              <a:lnSpc>
                <a:spcPct val="100000"/>
              </a:lnSpc>
            </a:pPr>
            <a:r>
              <a:rPr sz="1350" b="1" i="0">
                <a:solidFill>
                  <a:srgbClr val="F3F6FB"/>
                </a:solidFill>
                <a:latin typeface="Arial"/>
              </a:rPr>
              <a:t>Switching communication graph</a:t>
            </a:r>
          </a:p>
        </p:txBody>
      </p:sp>
      <p:sp>
        <p:nvSpPr>
          <p:cNvPr id="18" name="TextBox 17"/>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19" name="TextBox 18"/>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STRESS TESTS</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Robustness to Time-Varying Delay &amp; Topology</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22_crossing_critical_tau_profile.png"/>
          <p:cNvPicPr>
            <a:picLocks noChangeAspect="1"/>
          </p:cNvPicPr>
          <p:nvPr/>
        </p:nvPicPr>
        <p:blipFill>
          <a:blip r:embed="rId2"/>
          <a:stretch>
            <a:fillRect/>
          </a:stretch>
        </p:blipFill>
        <p:spPr>
          <a:xfrm>
            <a:off x="502920" y="1787694"/>
            <a:ext cx="3520440" cy="2121323"/>
          </a:xfrm>
          <a:prstGeom prst="rect">
            <a:avLst/>
          </a:prstGeom>
        </p:spPr>
      </p:pic>
      <p:sp>
        <p:nvSpPr>
          <p:cNvPr id="7" name="TextBox 6"/>
          <p:cNvSpPr txBox="1"/>
          <p:nvPr/>
        </p:nvSpPr>
        <p:spPr>
          <a:xfrm>
            <a:off x="502920" y="4197096"/>
            <a:ext cx="3520440" cy="411480"/>
          </a:xfrm>
          <a:prstGeom prst="rect">
            <a:avLst/>
          </a:prstGeom>
          <a:noFill/>
        </p:spPr>
        <p:txBody>
          <a:bodyPr wrap="square" anchor="t" lIns="0" rIns="0" tIns="0" bIns="0">
            <a:spAutoFit/>
          </a:bodyPr>
          <a:lstStyle/>
          <a:p>
            <a:pPr algn="ctr">
              <a:lnSpc>
                <a:spcPct val="100000"/>
              </a:lnSpc>
            </a:pPr>
            <a:r>
              <a:rPr sz="1200" b="0" i="1">
                <a:solidFill>
                  <a:srgbClr val="A7B3C8"/>
                </a:solidFill>
                <a:latin typeface="Arial"/>
              </a:rPr>
              <a:t>τ(t)/τcrit: sinusoid peaking at 1.19, dipping to 0.71</a:t>
            </a:r>
          </a:p>
        </p:txBody>
      </p:sp>
      <p:pic>
        <p:nvPicPr>
          <p:cNvPr id="8" name="Picture 7" descr="u22_crossing_critical_curves.png"/>
          <p:cNvPicPr>
            <a:picLocks noChangeAspect="1"/>
          </p:cNvPicPr>
          <p:nvPr/>
        </p:nvPicPr>
        <p:blipFill>
          <a:blip r:embed="rId3"/>
          <a:stretch>
            <a:fillRect/>
          </a:stretch>
        </p:blipFill>
        <p:spPr>
          <a:xfrm>
            <a:off x="4251960" y="1787694"/>
            <a:ext cx="3520440" cy="2121323"/>
          </a:xfrm>
          <a:prstGeom prst="rect">
            <a:avLst/>
          </a:prstGeom>
        </p:spPr>
      </p:pic>
      <p:sp>
        <p:nvSpPr>
          <p:cNvPr id="9" name="TextBox 8"/>
          <p:cNvSpPr txBox="1"/>
          <p:nvPr/>
        </p:nvSpPr>
        <p:spPr>
          <a:xfrm>
            <a:off x="4251960" y="4197096"/>
            <a:ext cx="3520440" cy="411480"/>
          </a:xfrm>
          <a:prstGeom prst="rect">
            <a:avLst/>
          </a:prstGeom>
          <a:noFill/>
        </p:spPr>
        <p:txBody>
          <a:bodyPr wrap="square" anchor="t" lIns="0" rIns="0" tIns="0" bIns="0">
            <a:spAutoFit/>
          </a:bodyPr>
          <a:lstStyle/>
          <a:p>
            <a:pPr algn="ctr">
              <a:lnSpc>
                <a:spcPct val="100000"/>
              </a:lnSpc>
            </a:pPr>
            <a:r>
              <a:rPr sz="1200" b="0" i="1">
                <a:solidFill>
                  <a:srgbClr val="A7B3C8"/>
                </a:solidFill>
                <a:latin typeface="Arial"/>
              </a:rPr>
              <a:t>Disagreement: full-state diverges, neighbour-only converges</a:t>
            </a:r>
          </a:p>
        </p:txBody>
      </p:sp>
      <p:pic>
        <p:nvPicPr>
          <p:cNvPr id="10" name="Picture 9" descr="u20_switching_graph_lambda2.png"/>
          <p:cNvPicPr>
            <a:picLocks noChangeAspect="1"/>
          </p:cNvPicPr>
          <p:nvPr/>
        </p:nvPicPr>
        <p:blipFill>
          <a:blip r:embed="rId4"/>
          <a:stretch>
            <a:fillRect/>
          </a:stretch>
        </p:blipFill>
        <p:spPr>
          <a:xfrm>
            <a:off x="8001000" y="1738105"/>
            <a:ext cx="3685032" cy="2220501"/>
          </a:xfrm>
          <a:prstGeom prst="rect">
            <a:avLst/>
          </a:prstGeom>
        </p:spPr>
      </p:pic>
      <p:sp>
        <p:nvSpPr>
          <p:cNvPr id="11" name="TextBox 10"/>
          <p:cNvSpPr txBox="1"/>
          <p:nvPr/>
        </p:nvSpPr>
        <p:spPr>
          <a:xfrm>
            <a:off x="8001000" y="4197096"/>
            <a:ext cx="3685032" cy="411480"/>
          </a:xfrm>
          <a:prstGeom prst="rect">
            <a:avLst/>
          </a:prstGeom>
          <a:noFill/>
        </p:spPr>
        <p:txBody>
          <a:bodyPr wrap="square" anchor="t" lIns="0" rIns="0" tIns="0" bIns="0">
            <a:spAutoFit/>
          </a:bodyPr>
          <a:lstStyle/>
          <a:p>
            <a:pPr algn="ctr">
              <a:lnSpc>
                <a:spcPct val="100000"/>
              </a:lnSpc>
            </a:pPr>
            <a:r>
              <a:rPr sz="1200" b="0" i="1">
                <a:solidFill>
                  <a:srgbClr val="A7B3C8"/>
                </a:solidFill>
                <a:latin typeface="Arial"/>
              </a:rPr>
              <a:t>λ₂(L(t)) of the switching proximity graph — stays positive</a:t>
            </a:r>
          </a:p>
        </p:txBody>
      </p:sp>
      <p:sp>
        <p:nvSpPr>
          <p:cNvPr id="12" name="TextBox 11"/>
          <p:cNvSpPr txBox="1"/>
          <p:nvPr/>
        </p:nvSpPr>
        <p:spPr>
          <a:xfrm>
            <a:off x="502920" y="4745736"/>
            <a:ext cx="11155680" cy="1554480"/>
          </a:xfrm>
          <a:prstGeom prst="rect">
            <a:avLst/>
          </a:prstGeom>
          <a:noFill/>
        </p:spPr>
        <p:txBody>
          <a:bodyPr wrap="square" lIns="0" rIns="0" tIns="0" bIns="0">
            <a:spAutoFit/>
          </a:bodyPr>
          <a:lstStyle/>
          <a:p>
            <a:pPr>
              <a:lnSpc>
                <a:spcPct val="108000"/>
              </a:lnSpc>
              <a:spcAft>
                <a:spcPts val="936"/>
              </a:spcAft>
            </a:pPr>
            <a:r>
              <a:rPr sz="1500" b="0">
                <a:solidFill>
                  <a:srgbClr val="4F9CF9"/>
                </a:solidFill>
                <a:latin typeface="Arial"/>
              </a:rPr>
              <a:t>•  Delay crossing τcrit: full-state final disagreement ≈0.74 m (no convergence); neighbour-only converges to ≈1×10⁻⁸ m in 9.5 s.</a:t>
            </a:r>
          </a:p>
          <a:p>
            <a:pPr>
              <a:lnSpc>
                <a:spcPct val="108000"/>
              </a:lnSpc>
              <a:spcAft>
                <a:spcPts val="936"/>
              </a:spcAft>
            </a:pPr>
            <a:r>
              <a:rPr sz="1500" b="0">
                <a:solidFill>
                  <a:srgbClr val="FF9E4A"/>
                </a:solidFill>
                <a:latin typeface="Arial"/>
              </a:rPr>
              <a:t>•  Neighbour-only tolerates excursions above the full-state reference threshold, consistent with its larger true margin.</a:t>
            </a:r>
          </a:p>
          <a:p>
            <a:pPr>
              <a:lnSpc>
                <a:spcPct val="108000"/>
              </a:lnSpc>
              <a:spcAft>
                <a:spcPts val="936"/>
              </a:spcAft>
            </a:pPr>
            <a:r>
              <a:rPr sz="1500" b="0">
                <a:solidFill>
                  <a:srgbClr val="F3F6FB"/>
                </a:solidFill>
                <a:latin typeface="Arial"/>
              </a:rPr>
              <a:t>•  Switching topology: λ₂(t) fluctuates but stays positive, preserving convergence.</a:t>
            </a:r>
          </a:p>
        </p:txBody>
      </p:sp>
      <p:sp>
        <p:nvSpPr>
          <p:cNvPr id="13" name="TextBox 12"/>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14" name="TextBox 13"/>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0515600" cy="292608"/>
          </a:xfrm>
          <a:prstGeom prst="rect">
            <a:avLst/>
          </a:prstGeom>
          <a:noFill/>
        </p:spPr>
        <p:txBody>
          <a:bodyPr wrap="square" anchor="t" lIns="0" rIns="0" tIns="0" bIns="0">
            <a:spAutoFit/>
          </a:bodyPr>
          <a:lstStyle/>
          <a:p>
            <a:pPr algn="l">
              <a:lnSpc>
                <a:spcPct val="100000"/>
              </a:lnSpc>
            </a:pPr>
            <a:r>
              <a:rPr sz="1300" b="1" i="0">
                <a:solidFill>
                  <a:srgbClr val="FF9E4A"/>
                </a:solidFill>
                <a:latin typeface="Arial"/>
              </a:rPr>
              <a:t>SUMMARY</a:t>
            </a:r>
          </a:p>
        </p:txBody>
      </p:sp>
      <p:sp>
        <p:nvSpPr>
          <p:cNvPr id="4" name="TextBox 3"/>
          <p:cNvSpPr txBox="1"/>
          <p:nvPr/>
        </p:nvSpPr>
        <p:spPr>
          <a:xfrm>
            <a:off x="502920" y="676656"/>
            <a:ext cx="11155680" cy="685800"/>
          </a:xfrm>
          <a:prstGeom prst="rect">
            <a:avLst/>
          </a:prstGeom>
          <a:noFill/>
        </p:spPr>
        <p:txBody>
          <a:bodyPr wrap="square" anchor="t" lIns="0" rIns="0" tIns="0" bIns="0">
            <a:spAutoFit/>
          </a:bodyPr>
          <a:lstStyle/>
          <a:p>
            <a:pPr algn="l">
              <a:lnSpc>
                <a:spcPct val="100000"/>
              </a:lnSpc>
            </a:pPr>
            <a:r>
              <a:rPr sz="3000" b="1" i="0">
                <a:solidFill>
                  <a:srgbClr val="F3F6FB"/>
                </a:solidFill>
                <a:latin typeface="Arial"/>
              </a:rPr>
              <a:t>Conclusions</a:t>
            </a:r>
          </a:p>
        </p:txBody>
      </p:sp>
      <p:sp>
        <p:nvSpPr>
          <p:cNvPr id="5" name="Rectangle 4"/>
          <p:cNvSpPr/>
          <p:nvPr/>
        </p:nvSpPr>
        <p:spPr>
          <a:xfrm>
            <a:off x="502920" y="1298448"/>
            <a:ext cx="1005840" cy="40640"/>
          </a:xfrm>
          <a:prstGeom prst="rect">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q_taucrit_small.png"/>
          <p:cNvPicPr>
            <a:picLocks noChangeAspect="1"/>
          </p:cNvPicPr>
          <p:nvPr/>
        </p:nvPicPr>
        <p:blipFill>
          <a:blip r:embed="rId2"/>
          <a:stretch>
            <a:fillRect/>
          </a:stretch>
        </p:blipFill>
        <p:spPr>
          <a:xfrm>
            <a:off x="7680960" y="457200"/>
            <a:ext cx="1594895" cy="502920"/>
          </a:xfrm>
          <a:prstGeom prst="rect">
            <a:avLst/>
          </a:prstGeom>
        </p:spPr>
      </p:pic>
      <p:sp>
        <p:nvSpPr>
          <p:cNvPr id="7" name="Oval 6"/>
          <p:cNvSpPr/>
          <p:nvPr/>
        </p:nvSpPr>
        <p:spPr>
          <a:xfrm>
            <a:off x="502920" y="1636776"/>
            <a:ext cx="502920" cy="502920"/>
          </a:xfrm>
          <a:prstGeom prst="ellipse">
            <a:avLst/>
          </a:prstGeom>
          <a:solidFill>
            <a:srgbClr val="4F9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A1222"/>
                </a:solidFill>
                <a:latin typeface="Arial"/>
              </a:rPr>
              <a:t>1</a:t>
            </a:r>
          </a:p>
        </p:txBody>
      </p:sp>
      <p:sp>
        <p:nvSpPr>
          <p:cNvPr id="8" name="TextBox 7"/>
          <p:cNvSpPr txBox="1"/>
          <p:nvPr/>
        </p:nvSpPr>
        <p:spPr>
          <a:xfrm>
            <a:off x="1234440" y="1609344"/>
            <a:ext cx="10424160" cy="365760"/>
          </a:xfrm>
          <a:prstGeom prst="rect">
            <a:avLst/>
          </a:prstGeom>
          <a:noFill/>
        </p:spPr>
        <p:txBody>
          <a:bodyPr wrap="square" anchor="t" lIns="0" rIns="0" tIns="0" bIns="0">
            <a:spAutoFit/>
          </a:bodyPr>
          <a:lstStyle/>
          <a:p>
            <a:pPr algn="l">
              <a:lnSpc>
                <a:spcPct val="100000"/>
              </a:lnSpc>
            </a:pPr>
            <a:r>
              <a:rPr sz="1800" b="1" i="0">
                <a:solidFill>
                  <a:srgbClr val="F3F6FB"/>
                </a:solidFill>
                <a:latin typeface="Arial"/>
              </a:rPr>
              <a:t>Communication delay fundamentally interacts with the graph spectrum</a:t>
            </a:r>
          </a:p>
        </p:txBody>
      </p:sp>
      <p:sp>
        <p:nvSpPr>
          <p:cNvPr id="9" name="TextBox 8"/>
          <p:cNvSpPr txBox="1"/>
          <p:nvPr/>
        </p:nvSpPr>
        <p:spPr>
          <a:xfrm>
            <a:off x="1234440" y="1984248"/>
            <a:ext cx="10424160" cy="640080"/>
          </a:xfrm>
          <a:prstGeom prst="rect">
            <a:avLst/>
          </a:prstGeom>
          <a:noFill/>
        </p:spPr>
        <p:txBody>
          <a:bodyPr wrap="square" anchor="t" lIns="0" rIns="0" tIns="0" bIns="0">
            <a:spAutoFit/>
          </a:bodyPr>
          <a:lstStyle/>
          <a:p>
            <a:pPr algn="l">
              <a:lnSpc>
                <a:spcPct val="110000"/>
              </a:lnSpc>
            </a:pPr>
            <a:r>
              <a:rPr sz="1450" b="0" i="0">
                <a:solidFill>
                  <a:srgbClr val="A7B3C8"/>
                </a:solidFill>
                <a:latin typeface="Arial"/>
              </a:rPr>
              <a:t>the critical delay is governed jointly by the consensus gain k and by λmax(L).</a:t>
            </a:r>
          </a:p>
        </p:txBody>
      </p:sp>
      <p:sp>
        <p:nvSpPr>
          <p:cNvPr id="10" name="Oval 9"/>
          <p:cNvSpPr/>
          <p:nvPr/>
        </p:nvSpPr>
        <p:spPr>
          <a:xfrm>
            <a:off x="502920" y="2688336"/>
            <a:ext cx="502920" cy="502920"/>
          </a:xfrm>
          <a:prstGeom prst="ellipse">
            <a:avLst/>
          </a:prstGeom>
          <a:solidFill>
            <a:srgbClr val="FF9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A1222"/>
                </a:solidFill>
                <a:latin typeface="Arial"/>
              </a:rPr>
              <a:t>2</a:t>
            </a:r>
          </a:p>
        </p:txBody>
      </p:sp>
      <p:sp>
        <p:nvSpPr>
          <p:cNvPr id="11" name="TextBox 10"/>
          <p:cNvSpPr txBox="1"/>
          <p:nvPr/>
        </p:nvSpPr>
        <p:spPr>
          <a:xfrm>
            <a:off x="1234440" y="2660904"/>
            <a:ext cx="10424160" cy="365760"/>
          </a:xfrm>
          <a:prstGeom prst="rect">
            <a:avLst/>
          </a:prstGeom>
          <a:noFill/>
        </p:spPr>
        <p:txBody>
          <a:bodyPr wrap="square" anchor="t" lIns="0" rIns="0" tIns="0" bIns="0">
            <a:spAutoFit/>
          </a:bodyPr>
          <a:lstStyle/>
          <a:p>
            <a:pPr algn="l">
              <a:lnSpc>
                <a:spcPct val="100000"/>
              </a:lnSpc>
            </a:pPr>
            <a:r>
              <a:rPr sz="1800" b="1" i="0">
                <a:solidFill>
                  <a:srgbClr val="F3F6FB"/>
                </a:solidFill>
                <a:latin typeface="Arial"/>
              </a:rPr>
              <a:t>Exact result for the linear full-state model</a:t>
            </a:r>
          </a:p>
        </p:txBody>
      </p:sp>
      <p:sp>
        <p:nvSpPr>
          <p:cNvPr id="12" name="TextBox 11"/>
          <p:cNvSpPr txBox="1"/>
          <p:nvPr/>
        </p:nvSpPr>
        <p:spPr>
          <a:xfrm>
            <a:off x="1234440" y="3035808"/>
            <a:ext cx="10424160" cy="640080"/>
          </a:xfrm>
          <a:prstGeom prst="rect">
            <a:avLst/>
          </a:prstGeom>
          <a:noFill/>
        </p:spPr>
        <p:txBody>
          <a:bodyPr wrap="square" anchor="t" lIns="0" rIns="0" tIns="0" bIns="0">
            <a:spAutoFit/>
          </a:bodyPr>
          <a:lstStyle/>
          <a:p>
            <a:pPr algn="l">
              <a:lnSpc>
                <a:spcPct val="110000"/>
              </a:lnSpc>
            </a:pPr>
            <a:r>
              <a:rPr sz="1450" b="0" i="0">
                <a:solidFill>
                  <a:srgbClr val="A7B3C8"/>
                </a:solidFill>
                <a:latin typeface="Arial"/>
              </a:rPr>
              <a:t>τcrit = π / (2 k λmax(L)) is a proven stability threshold for the single-integrator delayed-consensus system.</a:t>
            </a:r>
          </a:p>
        </p:txBody>
      </p:sp>
      <p:sp>
        <p:nvSpPr>
          <p:cNvPr id="13" name="Oval 12"/>
          <p:cNvSpPr/>
          <p:nvPr/>
        </p:nvSpPr>
        <p:spPr>
          <a:xfrm>
            <a:off x="502920" y="3739896"/>
            <a:ext cx="502920" cy="502920"/>
          </a:xfrm>
          <a:prstGeom prst="ellipse">
            <a:avLst/>
          </a:prstGeom>
          <a:solidFill>
            <a:srgbClr val="E8C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A1222"/>
                </a:solidFill>
                <a:latin typeface="Arial"/>
              </a:rPr>
              <a:t>3</a:t>
            </a:r>
          </a:p>
        </p:txBody>
      </p:sp>
      <p:sp>
        <p:nvSpPr>
          <p:cNvPr id="14" name="TextBox 13"/>
          <p:cNvSpPr txBox="1"/>
          <p:nvPr/>
        </p:nvSpPr>
        <p:spPr>
          <a:xfrm>
            <a:off x="1234440" y="3712464"/>
            <a:ext cx="10424160" cy="365760"/>
          </a:xfrm>
          <a:prstGeom prst="rect">
            <a:avLst/>
          </a:prstGeom>
          <a:noFill/>
        </p:spPr>
        <p:txBody>
          <a:bodyPr wrap="square" anchor="t" lIns="0" rIns="0" tIns="0" bIns="0">
            <a:spAutoFit/>
          </a:bodyPr>
          <a:lstStyle/>
          <a:p>
            <a:pPr algn="l">
              <a:lnSpc>
                <a:spcPct val="100000"/>
              </a:lnSpc>
            </a:pPr>
            <a:r>
              <a:rPr sz="1800" b="1" i="0">
                <a:solidFill>
                  <a:srgbClr val="F3F6FB"/>
                </a:solidFill>
                <a:latin typeface="Arial"/>
              </a:rPr>
              <a:t>A reference, not a theorem, for the unicycle</a:t>
            </a:r>
          </a:p>
        </p:txBody>
      </p:sp>
      <p:sp>
        <p:nvSpPr>
          <p:cNvPr id="15" name="TextBox 14"/>
          <p:cNvSpPr txBox="1"/>
          <p:nvPr/>
        </p:nvSpPr>
        <p:spPr>
          <a:xfrm>
            <a:off x="1234440" y="4087368"/>
            <a:ext cx="10424160" cy="640080"/>
          </a:xfrm>
          <a:prstGeom prst="rect">
            <a:avLst/>
          </a:prstGeom>
          <a:noFill/>
        </p:spPr>
        <p:txBody>
          <a:bodyPr wrap="square" anchor="t" lIns="0" rIns="0" tIns="0" bIns="0">
            <a:spAutoFit/>
          </a:bodyPr>
          <a:lstStyle/>
          <a:p>
            <a:pPr algn="l">
              <a:lnSpc>
                <a:spcPct val="110000"/>
              </a:lnSpc>
            </a:pPr>
            <a:r>
              <a:rPr sz="1450" b="0" i="0">
                <a:solidFill>
                  <a:srgbClr val="A7B3C8"/>
                </a:solidFill>
                <a:latin typeface="Arial"/>
              </a:rPr>
              <a:t>for nonholonomic unicycles τcrit remains a useful theoretical baseline, but it is not an exact nonlinear stability boundary — heading dynamics, projection and saturation shift the real transition.</a:t>
            </a:r>
          </a:p>
        </p:txBody>
      </p:sp>
      <p:sp>
        <p:nvSpPr>
          <p:cNvPr id="16" name="Oval 15"/>
          <p:cNvSpPr/>
          <p:nvPr/>
        </p:nvSpPr>
        <p:spPr>
          <a:xfrm>
            <a:off x="502920" y="4791456"/>
            <a:ext cx="502920" cy="502920"/>
          </a:xfrm>
          <a:prstGeom prst="ellipse">
            <a:avLst/>
          </a:prstGeom>
          <a:solidFill>
            <a:srgbClr val="4CD9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A1222"/>
                </a:solidFill>
                <a:latin typeface="Arial"/>
              </a:rPr>
              <a:t>4</a:t>
            </a:r>
          </a:p>
        </p:txBody>
      </p:sp>
      <p:sp>
        <p:nvSpPr>
          <p:cNvPr id="17" name="TextBox 16"/>
          <p:cNvSpPr txBox="1"/>
          <p:nvPr/>
        </p:nvSpPr>
        <p:spPr>
          <a:xfrm>
            <a:off x="1234440" y="4764024"/>
            <a:ext cx="10424160" cy="365760"/>
          </a:xfrm>
          <a:prstGeom prst="rect">
            <a:avLst/>
          </a:prstGeom>
          <a:noFill/>
        </p:spPr>
        <p:txBody>
          <a:bodyPr wrap="square" anchor="t" lIns="0" rIns="0" tIns="0" bIns="0">
            <a:spAutoFit/>
          </a:bodyPr>
          <a:lstStyle/>
          <a:p>
            <a:pPr algn="l">
              <a:lnSpc>
                <a:spcPct val="100000"/>
              </a:lnSpc>
            </a:pPr>
            <a:r>
              <a:rPr sz="1800" b="1" i="0">
                <a:solidFill>
                  <a:srgbClr val="F3F6FB"/>
                </a:solidFill>
                <a:latin typeface="Arial"/>
              </a:rPr>
              <a:t>Neighbour-only communication is markedly more robust</a:t>
            </a:r>
          </a:p>
        </p:txBody>
      </p:sp>
      <p:sp>
        <p:nvSpPr>
          <p:cNvPr id="18" name="TextBox 17"/>
          <p:cNvSpPr txBox="1"/>
          <p:nvPr/>
        </p:nvSpPr>
        <p:spPr>
          <a:xfrm>
            <a:off x="1234440" y="5138928"/>
            <a:ext cx="10424160" cy="640080"/>
          </a:xfrm>
          <a:prstGeom prst="rect">
            <a:avLst/>
          </a:prstGeom>
          <a:noFill/>
        </p:spPr>
        <p:txBody>
          <a:bodyPr wrap="square" anchor="t" lIns="0" rIns="0" tIns="0" bIns="0">
            <a:spAutoFit/>
          </a:bodyPr>
          <a:lstStyle/>
          <a:p>
            <a:pPr algn="l">
              <a:lnSpc>
                <a:spcPct val="110000"/>
              </a:lnSpc>
            </a:pPr>
            <a:r>
              <a:rPr sz="1450" b="0" i="0">
                <a:solidFill>
                  <a:srgbClr val="A7B3C8"/>
                </a:solidFill>
                <a:latin typeface="Arial"/>
              </a:rPr>
              <a:t>its instantaneous self-state term supplies damping the full-state model lacks, so it tolerates delays well beyond the full-state reference threshold.</a:t>
            </a:r>
          </a:p>
        </p:txBody>
      </p:sp>
      <p:sp>
        <p:nvSpPr>
          <p:cNvPr id="19" name="Rounded Rectangle 18"/>
          <p:cNvSpPr/>
          <p:nvPr/>
        </p:nvSpPr>
        <p:spPr>
          <a:xfrm>
            <a:off x="502920" y="5888736"/>
            <a:ext cx="11183112" cy="502920"/>
          </a:xfrm>
          <a:prstGeom prst="roundRect">
            <a:avLst>
              <a:gd name="adj" fmla="val 20000"/>
            </a:avLst>
          </a:prstGeom>
          <a:solidFill>
            <a:srgbClr val="16243E"/>
          </a:solidFill>
          <a:ln w="15875">
            <a:solidFill>
              <a:srgbClr val="E8C54A"/>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a:lstStyle/>
          <a:p>
            <a:pPr algn="ctr"/>
            <a:r>
              <a:rPr sz="1550" b="1" i="1">
                <a:solidFill>
                  <a:srgbClr val="E8C54A"/>
                </a:solidFill>
                <a:latin typeface="Arial"/>
              </a:rPr>
              <a:t>Fast consensus, dense connectivity and delay robustness must be designed together.</a:t>
            </a:r>
          </a:p>
        </p:txBody>
      </p:sp>
      <p:sp>
        <p:nvSpPr>
          <p:cNvPr id="20" name="TextBox 19"/>
          <p:cNvSpPr txBox="1"/>
          <p:nvPr/>
        </p:nvSpPr>
        <p:spPr>
          <a:xfrm>
            <a:off x="502920" y="6528816"/>
            <a:ext cx="8229600" cy="274320"/>
          </a:xfrm>
          <a:prstGeom prst="rect">
            <a:avLst/>
          </a:prstGeom>
          <a:noFill/>
        </p:spPr>
        <p:txBody>
          <a:bodyPr wrap="square" anchor="t" lIns="0" rIns="0" tIns="0" bIns="0">
            <a:spAutoFit/>
          </a:bodyPr>
          <a:lstStyle/>
          <a:p>
            <a:pPr algn="l">
              <a:lnSpc>
                <a:spcPct val="100000"/>
              </a:lnSpc>
            </a:pPr>
            <a:r>
              <a:rPr sz="1050" b="0" i="0">
                <a:solidFill>
                  <a:srgbClr val="A7B3C8"/>
                </a:solidFill>
                <a:latin typeface="Arial"/>
              </a:rPr>
              <a:t>Delay-Aware Unicycle Rendezvous — Control of Multi-Robot Systems</a:t>
            </a:r>
          </a:p>
        </p:txBody>
      </p:sp>
      <p:sp>
        <p:nvSpPr>
          <p:cNvPr id="21" name="TextBox 20"/>
          <p:cNvSpPr txBox="1"/>
          <p:nvPr/>
        </p:nvSpPr>
        <p:spPr>
          <a:xfrm>
            <a:off x="11247120" y="6528816"/>
            <a:ext cx="457200" cy="274320"/>
          </a:xfrm>
          <a:prstGeom prst="rect">
            <a:avLst/>
          </a:prstGeom>
          <a:noFill/>
        </p:spPr>
        <p:txBody>
          <a:bodyPr wrap="square" anchor="t" lIns="0" rIns="0" tIns="0" bIns="0">
            <a:spAutoFit/>
          </a:bodyPr>
          <a:lstStyle/>
          <a:p>
            <a:pPr algn="r">
              <a:lnSpc>
                <a:spcPct val="100000"/>
              </a:lnSpc>
            </a:pPr>
            <a:r>
              <a:rPr sz="1050" b="0" i="0">
                <a:solidFill>
                  <a:srgbClr val="A7B3C8"/>
                </a:solidFill>
                <a:latin typeface="Arial"/>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